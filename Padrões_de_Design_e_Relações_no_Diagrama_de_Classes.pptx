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981596"/>
            <a:ext cx="4286250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1A237E"/>
                </a:solidFill>
              </a:rPr>
              <a:t>Padrões de Design e Relações no Diagrama de Classes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3390379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Análise Arquitetural de Componentes de Linguagem de Programação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Visão Geral da Arquitetura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76908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Três domínios principais estruturam a linguagem de programação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592931" y="1489472"/>
            <a:ext cx="2455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Expressões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92931" y="1791295"/>
            <a:ext cx="2455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Padrão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592931" y="1941314"/>
            <a:ext cx="2455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Composite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92931" y="2255639"/>
            <a:ext cx="2455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Responsabilidade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592931" y="2405658"/>
            <a:ext cx="2455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Avaliação e verificação de tipos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92931" y="2719983"/>
            <a:ext cx="2455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Componentes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592931" y="2870002"/>
            <a:ext cx="2455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Interface Expressao, ExpBinaria, ExpUnaria, Valor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92931" y="3184327"/>
            <a:ext cx="2455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Métodos Chave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592931" y="3334345"/>
            <a:ext cx="2455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avaliar(), checaTipo(), getTipo()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3426600" y="1489472"/>
            <a:ext cx="24550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Comandos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426600" y="1791295"/>
            <a:ext cx="24550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Padrão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3426600" y="1941314"/>
            <a:ext cx="24550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Strategy, Command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3426600" y="2255639"/>
            <a:ext cx="24550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Responsabilidade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3426600" y="2405658"/>
            <a:ext cx="24550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Efeitos colaterais e manipulação de estado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3426600" y="2719983"/>
            <a:ext cx="24550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Componentes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3426600" y="2870002"/>
            <a:ext cx="24550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Interface Comando, Load, Save, Filter, Show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3426600" y="3184327"/>
            <a:ext cx="24550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Métodos Chave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3426600" y="3334345"/>
            <a:ext cx="24550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executar(), checaTipo()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260297" y="1489472"/>
            <a:ext cx="2455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Declarações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6260297" y="1791295"/>
            <a:ext cx="2455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Padrão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6260297" y="1941314"/>
            <a:ext cx="2455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Builder, Value Object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6260297" y="2255639"/>
            <a:ext cx="2455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Responsabilidade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6260297" y="2405658"/>
            <a:ext cx="2455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Estrutura e tipagem de identificadores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260297" y="2719983"/>
            <a:ext cx="2455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Componentes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6260297" y="2870002"/>
            <a:ext cx="2455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DecVariavel, DeclaracaoParametro, TipoPrimitivo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6260297" y="3184327"/>
            <a:ext cx="2455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Métodos Chave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6260297" y="3334345"/>
            <a:ext cx="2455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elabora(), getTipo()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Padrão Composite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12627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277BD"/>
                </a:solidFill>
              </a:rPr>
              <a:t>O que é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428625" y="1219795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O padrão Composite permite que você componha objetos em estruturas de árvore para representar hierarquias parte-todo. Ele permite que clientes tratem objetos individuais e composições de objetos de maneira uniforme.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428625" y="2034183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277BD"/>
                </a:solidFill>
              </a:rPr>
              <a:t>Implementação em Expressao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28625" y="2241352"/>
            <a:ext cx="4000500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Interface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Expressao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define o contrato comum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448520"/>
            <a:ext cx="4000500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Folhas: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Id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Valor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28625" y="2655689"/>
            <a:ext cx="4000500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Composites: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ExpBinaria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ExpUnaria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28625" y="2241352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▸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2448520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▸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28625" y="2655689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▸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28625" y="3077170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277BD"/>
                </a:solidFill>
              </a:rPr>
              <a:t>Benefícios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28625" y="3284339"/>
            <a:ext cx="4000500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Simplifica a avaliação de árvores de sintaxe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28625" y="3491508"/>
            <a:ext cx="4000500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Facilita a verificação de tipos recursiva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28625" y="3698677"/>
            <a:ext cx="4000500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Permite adicionar novos tipos de expressões sem modificar código existente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4714875" y="428625"/>
            <a:ext cx="4000500" cy="419516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714875" y="428625"/>
            <a:ext cx="14288" cy="4195167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3284339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▸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28625" y="3491508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▸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428625" y="3698677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▸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4929188" y="642938"/>
            <a:ext cx="3571875" cy="510778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1A237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29188" y="642938"/>
            <a:ext cx="3571875" cy="5107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« interface »</a:t>
            </a:r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Expressao</a:t>
            </a:r>
            <a:endParaRPr lang="en-US" sz="634" dirty="0"/>
          </a:p>
        </p:txBody>
      </p:sp>
      <p:sp>
        <p:nvSpPr>
          <p:cNvPr id="24" name="Shape 21"/>
          <p:cNvSpPr/>
          <p:nvPr/>
        </p:nvSpPr>
        <p:spPr>
          <a:xfrm>
            <a:off x="5143500" y="1468041"/>
            <a:ext cx="1500188" cy="369689"/>
          </a:xfrm>
          <a:prstGeom prst="rect">
            <a:avLst/>
          </a:prstGeom>
          <a:solidFill>
            <a:srgbClr val="00897B">
              <a:alpha val="2000"/>
            </a:srgbClr>
          </a:solidFill>
          <a:ln w="18288">
            <a:solidFill>
              <a:srgbClr val="0089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43500" y="1468041"/>
            <a:ext cx="1500188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Id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4929188" y="1916311"/>
            <a:ext cx="17145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277BD"/>
                </a:solidFill>
              </a:rPr>
              <a:t>Folha</a:t>
            </a:r>
            <a:endParaRPr lang="en-US" sz="534" dirty="0"/>
          </a:p>
        </p:txBody>
      </p:sp>
      <p:sp>
        <p:nvSpPr>
          <p:cNvPr id="27" name="Shape 24"/>
          <p:cNvSpPr/>
          <p:nvPr/>
        </p:nvSpPr>
        <p:spPr>
          <a:xfrm>
            <a:off x="7000875" y="1468041"/>
            <a:ext cx="1500188" cy="369689"/>
          </a:xfrm>
          <a:prstGeom prst="rect">
            <a:avLst/>
          </a:prstGeom>
          <a:solidFill>
            <a:srgbClr val="00897B">
              <a:alpha val="2000"/>
            </a:srgbClr>
          </a:solidFill>
          <a:ln w="18288">
            <a:solidFill>
              <a:srgbClr val="00897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00875" y="1468041"/>
            <a:ext cx="1500188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Valor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6786563" y="1916311"/>
            <a:ext cx="17145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277BD"/>
                </a:solidFill>
              </a:rPr>
              <a:t>Folha</a:t>
            </a:r>
            <a:endParaRPr lang="en-US" sz="534" dirty="0"/>
          </a:p>
        </p:txBody>
      </p:sp>
      <p:sp>
        <p:nvSpPr>
          <p:cNvPr id="30" name="Shape 27"/>
          <p:cNvSpPr/>
          <p:nvPr/>
        </p:nvSpPr>
        <p:spPr>
          <a:xfrm>
            <a:off x="5143500" y="2237780"/>
            <a:ext cx="3357563" cy="369689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0" y="2237780"/>
            <a:ext cx="3357563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ExpBinaria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4929188" y="2686050"/>
            <a:ext cx="3571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277BD"/>
                </a:solidFill>
              </a:rPr>
              <a:t>Composite</a:t>
            </a:r>
            <a:endParaRPr lang="en-US" sz="534" dirty="0"/>
          </a:p>
        </p:txBody>
      </p:sp>
      <p:sp>
        <p:nvSpPr>
          <p:cNvPr id="33" name="Text 30"/>
          <p:cNvSpPr/>
          <p:nvPr/>
        </p:nvSpPr>
        <p:spPr>
          <a:xfrm>
            <a:off x="5086350" y="2900363"/>
            <a:ext cx="34147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7474F"/>
                </a:solidFill>
              </a:rPr>
              <a:t>ExpAnd, ExpOr, ExpSoma, ExpSub, ExpConcat, ExpEquals</a:t>
            </a:r>
            <a:endParaRPr lang="en-US" sz="621" dirty="0"/>
          </a:p>
        </p:txBody>
      </p:sp>
      <p:sp>
        <p:nvSpPr>
          <p:cNvPr id="34" name="Shape 31"/>
          <p:cNvSpPr/>
          <p:nvPr/>
        </p:nvSpPr>
        <p:spPr>
          <a:xfrm>
            <a:off x="5143500" y="3287911"/>
            <a:ext cx="3357563" cy="369689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43500" y="3287911"/>
            <a:ext cx="3357563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ExpUnaria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4929188" y="3736181"/>
            <a:ext cx="3571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277BD"/>
                </a:solidFill>
              </a:rPr>
              <a:t>Composite</a:t>
            </a:r>
            <a:endParaRPr lang="en-US" sz="534" dirty="0"/>
          </a:p>
        </p:txBody>
      </p:sp>
      <p:sp>
        <p:nvSpPr>
          <p:cNvPr id="37" name="Text 34"/>
          <p:cNvSpPr/>
          <p:nvPr/>
        </p:nvSpPr>
        <p:spPr>
          <a:xfrm>
            <a:off x="5086350" y="3950494"/>
            <a:ext cx="34147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7474F"/>
                </a:solidFill>
              </a:rPr>
              <a:t>ExpLength, ExpMenos, ExpNot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Herança e Polimorfismo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41189"/>
            <a:ext cx="82867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Hierarquia de expressões binárias com especialização através de classes abstratas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428625" y="1373386"/>
            <a:ext cx="8286750" cy="1487686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0277BD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938" y="1587698"/>
            <a:ext cx="7858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277BD"/>
                </a:solidFill>
              </a:rPr>
              <a:t>Hierarquia de Classes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642938" y="1866305"/>
            <a:ext cx="2524116" cy="373261"/>
          </a:xfrm>
          <a:prstGeom prst="rect">
            <a:avLst/>
          </a:prstGeom>
          <a:solidFill>
            <a:srgbClr val="0277BD">
              <a:alpha val="3000"/>
            </a:srgbClr>
          </a:solidFill>
          <a:ln w="18288">
            <a:solidFill>
              <a:srgbClr val="0277BD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1436340" y="1986855"/>
            <a:ext cx="4881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« abstract »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1924487" y="1986855"/>
            <a:ext cx="44913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ExpBinaria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1584099" y="2509242"/>
            <a:ext cx="64176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277BD"/>
                </a:solidFill>
              </a:rPr>
              <a:t>Base Abstrata</a:t>
            </a:r>
            <a:endParaRPr lang="en-US" sz="534" dirty="0"/>
          </a:p>
        </p:txBody>
      </p:sp>
      <p:sp>
        <p:nvSpPr>
          <p:cNvPr id="11" name="Shape 8"/>
          <p:cNvSpPr/>
          <p:nvPr/>
        </p:nvSpPr>
        <p:spPr>
          <a:xfrm>
            <a:off x="3309928" y="1866305"/>
            <a:ext cx="2524116" cy="358973"/>
          </a:xfrm>
          <a:prstGeom prst="rect">
            <a:avLst/>
          </a:prstGeom>
          <a:solidFill>
            <a:srgbClr val="00897B">
              <a:alpha val="3000"/>
            </a:srgbClr>
          </a:solidFill>
          <a:ln w="18288">
            <a:solidFill>
              <a:srgbClr val="0089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97809" y="1986855"/>
            <a:ext cx="4881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« abstract »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4385956" y="1986855"/>
            <a:ext cx="86018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ExpBinariaNumerica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4238839" y="2509242"/>
            <a:ext cx="66629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277BD"/>
                </a:solidFill>
              </a:rPr>
              <a:t>Intermediária</a:t>
            </a:r>
            <a:endParaRPr lang="en-US" sz="534" dirty="0"/>
          </a:p>
        </p:txBody>
      </p:sp>
      <p:sp>
        <p:nvSpPr>
          <p:cNvPr id="15" name="Shape 12"/>
          <p:cNvSpPr/>
          <p:nvPr/>
        </p:nvSpPr>
        <p:spPr>
          <a:xfrm>
            <a:off x="5976919" y="1866305"/>
            <a:ext cx="2524144" cy="278606"/>
          </a:xfrm>
          <a:prstGeom prst="rect">
            <a:avLst/>
          </a:prstGeom>
          <a:solidFill>
            <a:srgbClr val="0277BD">
              <a:alpha val="5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2173" y="1937742"/>
            <a:ext cx="48052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237E"/>
                </a:solidFill>
              </a:rPr>
              <a:t>ExpGt, ExpLt</a:t>
            </a:r>
            <a:endParaRPr lang="en-US" sz="534" dirty="0"/>
          </a:p>
        </p:txBody>
      </p:sp>
      <p:sp>
        <p:nvSpPr>
          <p:cNvPr id="17" name="Text 14"/>
          <p:cNvSpPr/>
          <p:nvPr/>
        </p:nvSpPr>
        <p:spPr>
          <a:xfrm>
            <a:off x="7102701" y="1937742"/>
            <a:ext cx="5080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237E"/>
                </a:solidFill>
              </a:rPr>
              <a:t>ExpGe, ExpLe</a:t>
            </a:r>
            <a:endParaRPr lang="en-US" sz="534" dirty="0"/>
          </a:p>
        </p:txBody>
      </p:sp>
      <p:sp>
        <p:nvSpPr>
          <p:cNvPr id="18" name="Text 15"/>
          <p:cNvSpPr/>
          <p:nvPr/>
        </p:nvSpPr>
        <p:spPr>
          <a:xfrm>
            <a:off x="7610745" y="1937742"/>
            <a:ext cx="2450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237E"/>
                </a:solidFill>
              </a:rPr>
              <a:t>ExpNe</a:t>
            </a:r>
            <a:endParaRPr lang="en-US" sz="534" dirty="0"/>
          </a:p>
        </p:txBody>
      </p:sp>
      <p:sp>
        <p:nvSpPr>
          <p:cNvPr id="19" name="Text 16"/>
          <p:cNvSpPr/>
          <p:nvPr/>
        </p:nvSpPr>
        <p:spPr>
          <a:xfrm>
            <a:off x="5976919" y="2223492"/>
            <a:ext cx="25241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277BD"/>
                </a:solidFill>
              </a:rPr>
              <a:t>Concretas</a:t>
            </a:r>
            <a:endParaRPr lang="en-US" sz="534" dirty="0"/>
          </a:p>
        </p:txBody>
      </p:sp>
      <p:sp>
        <p:nvSpPr>
          <p:cNvPr id="20" name="Text 17"/>
          <p:cNvSpPr/>
          <p:nvPr/>
        </p:nvSpPr>
        <p:spPr>
          <a:xfrm>
            <a:off x="592931" y="3259336"/>
            <a:ext cx="37290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ExpBinaria (Abstrata)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592931" y="3471863"/>
            <a:ext cx="3729038" cy="203597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Responsabilidade: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Define estrutura comum para operadores binários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592931" y="3746897"/>
            <a:ext cx="3729038" cy="203597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Atributos:</a:t>
            </a:r>
            <a:pPr algn="l" indent="0" marL="0">
              <a:lnSpc>
                <a:spcPts val="1100"/>
              </a:lnSpc>
              <a:buNone/>
            </a:pPr>
            <a:r>
              <a:rPr lang="en-US" sz="568" dirty="0">
                <a:solidFill>
                  <a:srgbClr val="0277BD"/>
                </a:solidFill>
              </a:rPr>
              <a:t>esq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568" dirty="0">
                <a:solidFill>
                  <a:srgbClr val="0277BD"/>
                </a:solidFill>
              </a:rPr>
              <a:t>dir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568" dirty="0">
                <a:solidFill>
                  <a:srgbClr val="0277BD"/>
                </a:solidFill>
              </a:rPr>
              <a:t>operador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592931" y="4021931"/>
            <a:ext cx="3729038" cy="203597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Método Template:</a:t>
            </a:r>
            <a:pPr algn="l" indent="0" marL="0">
              <a:lnSpc>
                <a:spcPts val="1100"/>
              </a:lnSpc>
              <a:buNone/>
            </a:pPr>
            <a:r>
              <a:rPr lang="en-US" sz="568" dirty="0">
                <a:solidFill>
                  <a:srgbClr val="0277BD"/>
                </a:solidFill>
              </a:rPr>
              <a:t>checaTipo()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implementa lógica genérica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592931" y="4296966"/>
            <a:ext cx="37290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Métodos Abstratos:</a:t>
            </a:r>
            <a:pPr algn="l" indent="0" marL="0">
              <a:lnSpc>
                <a:spcPts val="1100"/>
              </a:lnSpc>
              <a:buNone/>
            </a:pPr>
            <a:r>
              <a:rPr lang="en-US" sz="568" dirty="0">
                <a:solidFill>
                  <a:srgbClr val="0277BD"/>
                </a:solidFill>
              </a:rPr>
              <a:t>avaliar()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568" dirty="0">
                <a:solidFill>
                  <a:srgbClr val="0277BD"/>
                </a:solidFill>
              </a:rPr>
              <a:t>checaTipoElementoTerminal()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4843463" y="3259336"/>
            <a:ext cx="37290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ExpBinariaNumerica (Especialização)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4843463" y="3471863"/>
            <a:ext cx="3729038" cy="203597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Responsabilidade: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Agrupa operadores de comparação numérica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4843463" y="3746897"/>
            <a:ext cx="3729038" cy="203597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Implementação:</a:t>
            </a:r>
            <a:pPr algn="l" indent="0" marL="0">
              <a:lnSpc>
                <a:spcPts val="1100"/>
              </a:lnSpc>
              <a:buNone/>
            </a:pPr>
            <a:r>
              <a:rPr lang="en-US" sz="568" dirty="0">
                <a:solidFill>
                  <a:srgbClr val="0277BD"/>
                </a:solidFill>
              </a:rPr>
              <a:t>checaTipoElementoTerminal()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verifica tipos numéricos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4843463" y="4021931"/>
            <a:ext cx="3729038" cy="203597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Método Utilitário:</a:t>
            </a:r>
            <a:pPr algn="l" indent="0" marL="0">
              <a:lnSpc>
                <a:spcPts val="1100"/>
              </a:lnSpc>
              <a:buNone/>
            </a:pPr>
            <a:r>
              <a:rPr lang="en-US" sz="568" dirty="0">
                <a:solidFill>
                  <a:srgbClr val="0277BD"/>
                </a:solidFill>
              </a:rPr>
              <a:t>getValorNumerico()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converte valores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4843463" y="4296966"/>
            <a:ext cx="37290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Subclasses: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ExpGt, ExpLt, ExpGe, ExpLe, ExpNe implementam </a:t>
            </a:r>
            <a:pPr algn="l" indent="0" marL="0">
              <a:lnSpc>
                <a:spcPts val="1100"/>
              </a:lnSpc>
              <a:buNone/>
            </a:pPr>
            <a:r>
              <a:rPr lang="en-US" sz="568" dirty="0">
                <a:solidFill>
                  <a:srgbClr val="0277BD"/>
                </a:solidFill>
              </a:rPr>
              <a:t>avaliar()</a:t>
            </a:r>
            <a:endParaRPr lang="en-US" sz="6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010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Padrão Strategy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41189"/>
            <a:ext cx="82867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Desacoplamento da lógica de cálculo em comandos estatísticos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428625" y="1373386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277BD"/>
                </a:solidFill>
              </a:rPr>
              <a:t>Conceito do Padrão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594842"/>
            <a:ext cx="40005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O padrão Strategy define uma família de algoritmos, encapsula cada um e os torna intercambiáveis. Permite que o algoritmo varie independentemente dos clientes que o utilizam.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428625" y="2289181"/>
            <a:ext cx="4000500" cy="973336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5781" y="2396337"/>
            <a:ext cx="3786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Papéis no Padrão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535781" y="2569573"/>
            <a:ext cx="378618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Contexto: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ComandoEstatisticoAbstrato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Estratégia: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Método abstrato calcular()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Estratégias Concretas: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Mean, Median, Max, Min, Std, Variance, Mode, Quartiles,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Range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428625" y="3483973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277BD"/>
                </a:solidFill>
              </a:rPr>
              <a:t>Fluxo de Execução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3776867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Obter ValorDataFrame do ambiente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28625" y="3973320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Extrair coluna numérica especificada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428625" y="4169773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Delegar cálculo para estratégia concreta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28625" y="4366227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Armazenar resultado no ambiente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428625" y="3776867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897B"/>
                </a:solidFill>
              </a:rPr>
              <a:t>▸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428625" y="3973320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897B"/>
                </a:solidFill>
              </a:rPr>
              <a:t>▸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428625" y="4169773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897B"/>
                </a:solidFill>
              </a:rPr>
              <a:t>▸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428625" y="4366227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897B"/>
                </a:solidFill>
              </a:rPr>
              <a:t>▸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4943475" y="1373386"/>
            <a:ext cx="3771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277BD"/>
                </a:solidFill>
              </a:rPr>
              <a:t>Implementação Técnica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4943475" y="1680567"/>
            <a:ext cx="3771900" cy="942975"/>
          </a:xfrm>
          <a:prstGeom prst="rect">
            <a:avLst/>
          </a:prstGeom>
          <a:solidFill>
            <a:srgbClr val="0277BD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943475" y="1680567"/>
            <a:ext cx="21431" cy="942975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2" name="Text 19"/>
          <p:cNvSpPr/>
          <p:nvPr/>
        </p:nvSpPr>
        <p:spPr>
          <a:xfrm>
            <a:off x="4943475" y="1680567"/>
            <a:ext cx="3771900" cy="94297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A237E"/>
                </a:solidFill>
              </a:rPr>
              <a:t>abstract class ComandoEstatisticoAbstrato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A237E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A237E"/>
                </a:solidFill>
              </a:rPr>
              <a:t> implements Comando {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A237E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A237E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A237E"/>
                </a:solidFill>
              </a:rPr>
              <a:t> protected abstract Valor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A237E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A237E"/>
                </a:solidFill>
              </a:rPr>
              <a:t> calcular(List&lt;Double&gt;);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A237E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A237E"/>
                </a:solidFill>
              </a:rPr>
              <a:t> }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4943475" y="2852142"/>
            <a:ext cx="3771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277BD"/>
                </a:solidFill>
              </a:rPr>
              <a:t>Estratégias Concretas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4943475" y="3073598"/>
            <a:ext cx="1850231" cy="273248"/>
          </a:xfrm>
          <a:prstGeom prst="rect">
            <a:avLst/>
          </a:prstGeom>
          <a:solidFill>
            <a:srgbClr val="00897B">
              <a:alpha val="5000"/>
            </a:srgbClr>
          </a:solidFill>
          <a:ln w="9144">
            <a:solidFill>
              <a:srgbClr val="0089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43475" y="3073598"/>
            <a:ext cx="1850231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Mean</a:t>
            </a:r>
            <a:endParaRPr lang="en-US" sz="584" dirty="0"/>
          </a:p>
        </p:txBody>
      </p:sp>
      <p:sp>
        <p:nvSpPr>
          <p:cNvPr id="26" name="Shape 23"/>
          <p:cNvSpPr/>
          <p:nvPr/>
        </p:nvSpPr>
        <p:spPr>
          <a:xfrm>
            <a:off x="6865144" y="3073598"/>
            <a:ext cx="1850231" cy="273248"/>
          </a:xfrm>
          <a:prstGeom prst="rect">
            <a:avLst/>
          </a:prstGeom>
          <a:solidFill>
            <a:srgbClr val="00897B">
              <a:alpha val="5000"/>
            </a:srgbClr>
          </a:solidFill>
          <a:ln w="9144">
            <a:solidFill>
              <a:srgbClr val="00897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65144" y="3073598"/>
            <a:ext cx="1850231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Median</a:t>
            </a:r>
            <a:endParaRPr lang="en-US" sz="584" dirty="0"/>
          </a:p>
        </p:txBody>
      </p:sp>
      <p:sp>
        <p:nvSpPr>
          <p:cNvPr id="28" name="Shape 25"/>
          <p:cNvSpPr/>
          <p:nvPr/>
        </p:nvSpPr>
        <p:spPr>
          <a:xfrm>
            <a:off x="4943475" y="3403997"/>
            <a:ext cx="1850231" cy="273248"/>
          </a:xfrm>
          <a:prstGeom prst="rect">
            <a:avLst/>
          </a:prstGeom>
          <a:solidFill>
            <a:srgbClr val="00897B">
              <a:alpha val="5000"/>
            </a:srgbClr>
          </a:solidFill>
          <a:ln w="9144">
            <a:solidFill>
              <a:srgbClr val="00897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43475" y="3403997"/>
            <a:ext cx="1850231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Max</a:t>
            </a:r>
            <a:endParaRPr lang="en-US" sz="584" dirty="0"/>
          </a:p>
        </p:txBody>
      </p:sp>
      <p:sp>
        <p:nvSpPr>
          <p:cNvPr id="30" name="Shape 27"/>
          <p:cNvSpPr/>
          <p:nvPr/>
        </p:nvSpPr>
        <p:spPr>
          <a:xfrm>
            <a:off x="6865144" y="3403997"/>
            <a:ext cx="1850231" cy="273248"/>
          </a:xfrm>
          <a:prstGeom prst="rect">
            <a:avLst/>
          </a:prstGeom>
          <a:solidFill>
            <a:srgbClr val="00897B">
              <a:alpha val="5000"/>
            </a:srgbClr>
          </a:solidFill>
          <a:ln w="9144">
            <a:solidFill>
              <a:srgbClr val="00897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65144" y="3403997"/>
            <a:ext cx="1850231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Min</a:t>
            </a:r>
            <a:endParaRPr lang="en-US" sz="584" dirty="0"/>
          </a:p>
        </p:txBody>
      </p:sp>
      <p:sp>
        <p:nvSpPr>
          <p:cNvPr id="32" name="Shape 29"/>
          <p:cNvSpPr/>
          <p:nvPr/>
        </p:nvSpPr>
        <p:spPr>
          <a:xfrm>
            <a:off x="4943475" y="3734395"/>
            <a:ext cx="1850231" cy="273248"/>
          </a:xfrm>
          <a:prstGeom prst="rect">
            <a:avLst/>
          </a:prstGeom>
          <a:solidFill>
            <a:srgbClr val="00897B">
              <a:alpha val="5000"/>
            </a:srgbClr>
          </a:solidFill>
          <a:ln w="9144">
            <a:solidFill>
              <a:srgbClr val="00897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43475" y="3734395"/>
            <a:ext cx="1850231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Std</a:t>
            </a:r>
            <a:endParaRPr lang="en-US" sz="584" dirty="0"/>
          </a:p>
        </p:txBody>
      </p:sp>
      <p:sp>
        <p:nvSpPr>
          <p:cNvPr id="34" name="Shape 31"/>
          <p:cNvSpPr/>
          <p:nvPr/>
        </p:nvSpPr>
        <p:spPr>
          <a:xfrm>
            <a:off x="6865144" y="3734395"/>
            <a:ext cx="1850231" cy="273248"/>
          </a:xfrm>
          <a:prstGeom prst="rect">
            <a:avLst/>
          </a:prstGeom>
          <a:solidFill>
            <a:srgbClr val="00897B">
              <a:alpha val="5000"/>
            </a:srgbClr>
          </a:solidFill>
          <a:ln w="9144">
            <a:solidFill>
              <a:srgbClr val="00897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65144" y="3734395"/>
            <a:ext cx="1850231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Variance</a:t>
            </a:r>
            <a:endParaRPr lang="en-US" sz="584" dirty="0"/>
          </a:p>
        </p:txBody>
      </p:sp>
      <p:sp>
        <p:nvSpPr>
          <p:cNvPr id="36" name="Shape 33"/>
          <p:cNvSpPr/>
          <p:nvPr/>
        </p:nvSpPr>
        <p:spPr>
          <a:xfrm>
            <a:off x="4943475" y="4064794"/>
            <a:ext cx="1850231" cy="273248"/>
          </a:xfrm>
          <a:prstGeom prst="rect">
            <a:avLst/>
          </a:prstGeom>
          <a:solidFill>
            <a:srgbClr val="00897B">
              <a:alpha val="5000"/>
            </a:srgbClr>
          </a:solidFill>
          <a:ln w="9144">
            <a:solidFill>
              <a:srgbClr val="00897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43475" y="4064794"/>
            <a:ext cx="1850231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Mode</a:t>
            </a:r>
            <a:endParaRPr lang="en-US" sz="584" dirty="0"/>
          </a:p>
        </p:txBody>
      </p:sp>
      <p:sp>
        <p:nvSpPr>
          <p:cNvPr id="38" name="Shape 35"/>
          <p:cNvSpPr/>
          <p:nvPr/>
        </p:nvSpPr>
        <p:spPr>
          <a:xfrm>
            <a:off x="6865144" y="4064794"/>
            <a:ext cx="1850231" cy="273248"/>
          </a:xfrm>
          <a:prstGeom prst="rect">
            <a:avLst/>
          </a:prstGeom>
          <a:solidFill>
            <a:srgbClr val="00897B">
              <a:alpha val="5000"/>
            </a:srgbClr>
          </a:solidFill>
          <a:ln w="9144">
            <a:solidFill>
              <a:srgbClr val="00897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65144" y="4064794"/>
            <a:ext cx="1850231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37E"/>
                </a:solidFill>
              </a:rPr>
              <a:t>Quartiles</a:t>
            </a:r>
            <a:endParaRPr lang="en-US" sz="584" dirty="0"/>
          </a:p>
        </p:txBody>
      </p:sp>
      <p:sp>
        <p:nvSpPr>
          <p:cNvPr id="40" name="Text 37"/>
          <p:cNvSpPr/>
          <p:nvPr/>
        </p:nvSpPr>
        <p:spPr>
          <a:xfrm>
            <a:off x="4943475" y="4466630"/>
            <a:ext cx="3771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277BD"/>
                </a:solidFill>
              </a:rPr>
              <a:t>Utilitário Matemático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4943475" y="4688086"/>
            <a:ext cx="37719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 classe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CalculadoraEstatisticas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encapsula toda a lógica matemática, permitindo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que as estratégias se concentrem apenas em chamar o método apropriado.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14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O Papel Central do ValorDataFrame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76908"/>
            <a:ext cx="82867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Objeto de domínio para manipulação de dados com composição e imutabilidade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428625" y="1409105"/>
            <a:ext cx="40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0277BD"/>
                </a:solidFill>
              </a:rPr>
              <a:t>Definição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428625" y="1607344"/>
            <a:ext cx="40005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ValorDataFrame é um objeto de domínio que encapsula uma estrutura de dados tabular (matriz mxn) em memória, servindo como o principal meio de manipulação de dados na linguagem.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2337402"/>
            <a:ext cx="40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0277BD"/>
                </a:solidFill>
              </a:rPr>
              <a:t>Composição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428625" y="2535641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schema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: Mapa de nomes de colunas para tipos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28625" y="2724950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rows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: Lista de linhas, cada uma é um mapa coluna-valor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28625" y="2535641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897B"/>
                </a:solidFill>
              </a:rPr>
              <a:t>▸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428625" y="2724950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897B"/>
                </a:solidFill>
              </a:rPr>
              <a:t>▸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428625" y="3092853"/>
            <a:ext cx="40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0277BD"/>
                </a:solidFill>
              </a:rPr>
              <a:t>Imutabilidade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428625" y="3291092"/>
            <a:ext cx="4000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O método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createNew()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garante que operações como FILTER criam novos DataFrames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em vez de modificar o existente, promovendo segurança e previsibilidade.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714875" y="1409105"/>
            <a:ext cx="4000500" cy="2866430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57750" y="1551980"/>
            <a:ext cx="3714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Estrutura Interna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4857750" y="1785938"/>
            <a:ext cx="3714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schema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4857750" y="1916311"/>
            <a:ext cx="37147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7474F"/>
                </a:solidFill>
              </a:rPr>
              <a:t>Map&lt;String, Tipo&gt;</a:t>
            </a:r>
            <a:endParaRPr lang="en-US" sz="568" dirty="0"/>
          </a:p>
        </p:txBody>
      </p:sp>
      <p:sp>
        <p:nvSpPr>
          <p:cNvPr id="18" name="Text 15"/>
          <p:cNvSpPr/>
          <p:nvPr/>
        </p:nvSpPr>
        <p:spPr>
          <a:xfrm>
            <a:off x="4857750" y="2202061"/>
            <a:ext cx="3714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rows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4857750" y="2332434"/>
            <a:ext cx="37147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7474F"/>
                </a:solidFill>
              </a:rPr>
              <a:t>List&lt;Map&lt;String, Valor&gt;&gt;</a:t>
            </a:r>
            <a:endParaRPr lang="en-US" sz="568" dirty="0"/>
          </a:p>
        </p:txBody>
      </p:sp>
      <p:sp>
        <p:nvSpPr>
          <p:cNvPr id="20" name="Text 17"/>
          <p:cNvSpPr/>
          <p:nvPr/>
        </p:nvSpPr>
        <p:spPr>
          <a:xfrm>
            <a:off x="4857750" y="2618184"/>
            <a:ext cx="3714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getRowCount()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4857750" y="2748558"/>
            <a:ext cx="37147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7474F"/>
                </a:solidFill>
              </a:rPr>
              <a:t>: int</a:t>
            </a:r>
            <a:endParaRPr lang="en-US" sz="568" dirty="0"/>
          </a:p>
        </p:txBody>
      </p:sp>
      <p:sp>
        <p:nvSpPr>
          <p:cNvPr id="22" name="Text 19"/>
          <p:cNvSpPr/>
          <p:nvPr/>
        </p:nvSpPr>
        <p:spPr>
          <a:xfrm>
            <a:off x="4857750" y="3034308"/>
            <a:ext cx="3714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getRows()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857750" y="3164681"/>
            <a:ext cx="37147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7474F"/>
                </a:solidFill>
              </a:rPr>
              <a:t>: List&lt;Map&lt;String, Valor&gt;&gt;</a:t>
            </a:r>
            <a:endParaRPr lang="en-US" sz="568" dirty="0"/>
          </a:p>
        </p:txBody>
      </p:sp>
      <p:sp>
        <p:nvSpPr>
          <p:cNvPr id="24" name="Text 21"/>
          <p:cNvSpPr/>
          <p:nvPr/>
        </p:nvSpPr>
        <p:spPr>
          <a:xfrm>
            <a:off x="4857750" y="3450431"/>
            <a:ext cx="3714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getSchema()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4857750" y="3580805"/>
            <a:ext cx="37147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7474F"/>
                </a:solidFill>
              </a:rPr>
              <a:t>: Map&lt;String, Tipo&gt;</a:t>
            </a:r>
            <a:endParaRPr lang="en-US" sz="568" dirty="0"/>
          </a:p>
        </p:txBody>
      </p:sp>
      <p:sp>
        <p:nvSpPr>
          <p:cNvPr id="26" name="Text 23"/>
          <p:cNvSpPr/>
          <p:nvPr/>
        </p:nvSpPr>
        <p:spPr>
          <a:xfrm>
            <a:off x="4857750" y="3866555"/>
            <a:ext cx="3714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createNew()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4857750" y="3996928"/>
            <a:ext cx="37147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7474F"/>
                </a:solidFill>
              </a:rPr>
              <a:t>: ValorDataFrame</a:t>
            </a:r>
            <a:endParaRPr lang="en-US" sz="568" dirty="0"/>
          </a:p>
        </p:txBody>
      </p:sp>
      <p:sp>
        <p:nvSpPr>
          <p:cNvPr id="28" name="Shape 25"/>
          <p:cNvSpPr/>
          <p:nvPr/>
        </p:nvSpPr>
        <p:spPr>
          <a:xfrm>
            <a:off x="4714875" y="4389834"/>
            <a:ext cx="4000500" cy="664369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22031" y="4496991"/>
            <a:ext cx="37861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277BD"/>
                </a:solidFill>
              </a:rPr>
              <a:t>Padrão: Value Object</a:t>
            </a:r>
            <a:endParaRPr lang="en-US" sz="534" dirty="0"/>
          </a:p>
        </p:txBody>
      </p:sp>
      <p:sp>
        <p:nvSpPr>
          <p:cNvPr id="30" name="Text 27"/>
          <p:cNvSpPr/>
          <p:nvPr/>
        </p:nvSpPr>
        <p:spPr>
          <a:xfrm>
            <a:off x="4822031" y="4661297"/>
            <a:ext cx="37861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37474F"/>
                </a:solidFill>
              </a:rPr>
              <a:t>Uma vez criado, não pode ser alterado. Operações retornam novos DataFrames, mantendo o original intacto.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01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ValorDataFrame: Integração com Comandos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76908"/>
            <a:ext cx="82867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Como ValorDataFrame se integra com os comandos da linguagem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428625" y="1409105"/>
            <a:ext cx="40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0277BD"/>
                </a:solidFill>
              </a:rPr>
              <a:t>Comandos que Operam com ValorDataFrame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557213" y="1621631"/>
            <a:ext cx="38719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Load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557213" y="1769864"/>
            <a:ext cx="38719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37474F"/>
                </a:solidFill>
              </a:rPr>
              <a:t>Cria um novo ValorDataFrame a partir de um arquivo CSV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557213" y="1957388"/>
            <a:ext cx="38719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Save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557213" y="2105620"/>
            <a:ext cx="38719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37474F"/>
                </a:solidFill>
              </a:rPr>
              <a:t>Escreve um ValorDataFrame em um arquivo CSV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557213" y="2293144"/>
            <a:ext cx="38719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Filter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557213" y="2441377"/>
            <a:ext cx="38719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37474F"/>
                </a:solidFill>
              </a:rPr>
              <a:t>Cria um novo ValorDataFrame com linhas filtradas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557213" y="2628900"/>
            <a:ext cx="38719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Show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557213" y="2777133"/>
            <a:ext cx="38719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37474F"/>
                </a:solidFill>
              </a:rPr>
              <a:t>Exibe o conteúdo de um ValorDataFrame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557213" y="2964656"/>
            <a:ext cx="38719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Estatísticas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557213" y="3112889"/>
            <a:ext cx="38719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37474F"/>
                </a:solidFill>
              </a:rPr>
              <a:t>Calcula métricas sobre colunas numéricas</a:t>
            </a:r>
            <a:endParaRPr lang="en-US" sz="621" dirty="0"/>
          </a:p>
        </p:txBody>
      </p:sp>
      <p:sp>
        <p:nvSpPr>
          <p:cNvPr id="16" name="Shape 13"/>
          <p:cNvSpPr/>
          <p:nvPr/>
        </p:nvSpPr>
        <p:spPr>
          <a:xfrm>
            <a:off x="4714875" y="1409105"/>
            <a:ext cx="4000500" cy="705445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2031" y="1516261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Separação de Responsabilidades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4822031" y="1700213"/>
            <a:ext cx="37861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Cada comando tem uma responsabilidade clara e bem definida. ValorDataFrame é apenas um contenedor de dados, não contém lógica de processamento.</a:t>
            </a:r>
            <a:endParaRPr lang="en-US" sz="674" dirty="0"/>
          </a:p>
        </p:txBody>
      </p:sp>
      <p:sp>
        <p:nvSpPr>
          <p:cNvPr id="19" name="Shape 16"/>
          <p:cNvSpPr/>
          <p:nvPr/>
        </p:nvSpPr>
        <p:spPr>
          <a:xfrm>
            <a:off x="4714875" y="2228850"/>
            <a:ext cx="4000500" cy="705445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2031" y="2336006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Extensibilidade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4822031" y="2519958"/>
            <a:ext cx="37861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Novos comandos podem ser adicionados sem modificar ValorDataFrame. A interface é estável e bem documentada.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4714875" y="3048595"/>
            <a:ext cx="4000500" cy="705445"/>
          </a:xfrm>
          <a:prstGeom prst="rect">
            <a:avLst/>
          </a:prstGeom>
          <a:solidFill>
            <a:srgbClr val="00897B">
              <a:alpha val="2000"/>
            </a:srgbClr>
          </a:solidFill>
          <a:ln w="18288">
            <a:solidFill>
              <a:srgbClr val="00897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2031" y="3155752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Padrão: Value Object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4822031" y="3339703"/>
            <a:ext cx="37861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ValorDataFrame implementa o padrão Value Object: imutável, encapsula dados relacionados, e é identificado pelos seus valores, não por identidade.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428625" y="4154091"/>
            <a:ext cx="8286750" cy="832582"/>
          </a:xfrm>
          <a:prstGeom prst="rect">
            <a:avLst/>
          </a:prstGeom>
          <a:solidFill>
            <a:srgbClr val="0277BD">
              <a:alpha val="3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1500" y="4296966"/>
            <a:ext cx="80010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Conclusão: Arquitetura Centrada em Dados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571500" y="4495205"/>
            <a:ext cx="80010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ValorDataFrame é o ponto central de integração entre todos os comandos de manipulação de dados. Sua imutabilidade garante que operações sejam seguras e previsíveis. A separação clara entre dados (ValorDataFrame) e operações (Comandos) facilita a manutenção, testes e extensão futura do sistema.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364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Padrões de Declaração e Tipagem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41189"/>
            <a:ext cx="82867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Separação de responsabilidades entre estrutura e verificação de tipos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428625" y="1373386"/>
            <a:ext cx="4000500" cy="2607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Declarações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1777008"/>
            <a:ext cx="4000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Responsabilidade</a:t>
            </a:r>
            <a:endParaRPr lang="en-US" sz="584" dirty="0"/>
          </a:p>
        </p:txBody>
      </p:sp>
      <p:sp>
        <p:nvSpPr>
          <p:cNvPr id="7" name="Shape 4"/>
          <p:cNvSpPr/>
          <p:nvPr/>
        </p:nvSpPr>
        <p:spPr>
          <a:xfrm>
            <a:off x="428625" y="1950244"/>
            <a:ext cx="4000500" cy="382191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5781" y="2057400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Estruturar o código e mapear identificadores para seus valores ou tipos no ambiente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28625" y="2518172"/>
            <a:ext cx="4000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Classe Principal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428625" y="2691408"/>
            <a:ext cx="4000500" cy="566142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5781" y="2798564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DecVariavel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535781" y="2982516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Declara uma variável com um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Id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e uma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Expressao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428625" y="3443288"/>
            <a:ext cx="4000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Classe Secundária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428625" y="3616523"/>
            <a:ext cx="4000500" cy="566142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5781" y="3723680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DeclaracaoParametro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535781" y="3907631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Declara um parâmetro formal com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Id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e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Tipo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28625" y="4368403"/>
            <a:ext cx="4000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Classe Avançada</a:t>
            </a:r>
            <a:endParaRPr lang="en-US" sz="584" dirty="0"/>
          </a:p>
        </p:txBody>
      </p:sp>
      <p:sp>
        <p:nvSpPr>
          <p:cNvPr id="18" name="Shape 15"/>
          <p:cNvSpPr/>
          <p:nvPr/>
        </p:nvSpPr>
        <p:spPr>
          <a:xfrm>
            <a:off x="428625" y="4541639"/>
            <a:ext cx="4000500" cy="566142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5781" y="4648795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DeclaracaoProcedimento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535781" y="4832747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Declara um procedimento com parâmetros formais e comando associado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4714875" y="1373386"/>
            <a:ext cx="4000500" cy="2607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Sistema de Tipos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4714875" y="1777008"/>
            <a:ext cx="4000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Responsabilidade</a:t>
            </a:r>
            <a:endParaRPr lang="en-US" sz="584" dirty="0"/>
          </a:p>
        </p:txBody>
      </p:sp>
      <p:sp>
        <p:nvSpPr>
          <p:cNvPr id="23" name="Shape 20"/>
          <p:cNvSpPr/>
          <p:nvPr/>
        </p:nvSpPr>
        <p:spPr>
          <a:xfrm>
            <a:off x="4714875" y="1950244"/>
            <a:ext cx="4000500" cy="382191"/>
          </a:xfrm>
          <a:prstGeom prst="rect">
            <a:avLst/>
          </a:prstGeom>
          <a:solidFill>
            <a:srgbClr val="00897B">
              <a:alpha val="2000"/>
            </a:srgbClr>
          </a:solidFill>
          <a:ln w="18288">
            <a:solidFill>
              <a:srgbClr val="00897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22031" y="2057400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Definir e validar os tipos da linguagem, garantindo segurança de tipos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4714875" y="2518172"/>
            <a:ext cx="4000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Interface Base</a:t>
            </a:r>
            <a:endParaRPr lang="en-US" sz="584" dirty="0"/>
          </a:p>
        </p:txBody>
      </p:sp>
      <p:sp>
        <p:nvSpPr>
          <p:cNvPr id="26" name="Shape 23"/>
          <p:cNvSpPr/>
          <p:nvPr/>
        </p:nvSpPr>
        <p:spPr>
          <a:xfrm>
            <a:off x="4714875" y="2691408"/>
            <a:ext cx="4000500" cy="566142"/>
          </a:xfrm>
          <a:prstGeom prst="rect">
            <a:avLst/>
          </a:prstGeom>
          <a:solidFill>
            <a:srgbClr val="00897B">
              <a:alpha val="2000"/>
            </a:srgbClr>
          </a:solidFill>
          <a:ln w="18288">
            <a:solidFill>
              <a:srgbClr val="00897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2031" y="2798564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Tipo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4822031" y="2982516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Contrato para todos os tipos: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eInteiro()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eBooleano()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eString()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4714875" y="3443288"/>
            <a:ext cx="4000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Implementação Primitiva</a:t>
            </a:r>
            <a:endParaRPr lang="en-US" sz="584" dirty="0"/>
          </a:p>
        </p:txBody>
      </p:sp>
      <p:sp>
        <p:nvSpPr>
          <p:cNvPr id="30" name="Shape 27"/>
          <p:cNvSpPr/>
          <p:nvPr/>
        </p:nvSpPr>
        <p:spPr>
          <a:xfrm>
            <a:off x="4714875" y="3616523"/>
            <a:ext cx="4000500" cy="566142"/>
          </a:xfrm>
          <a:prstGeom prst="rect">
            <a:avLst/>
          </a:prstGeom>
          <a:solidFill>
            <a:srgbClr val="00897B">
              <a:alpha val="2000"/>
            </a:srgbClr>
          </a:solidFill>
          <a:ln w="18288">
            <a:solidFill>
              <a:srgbClr val="00897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22031" y="3723680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TipoPrimitivo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4822031" y="3907631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Enum com INTEIRO, BOOLEANO, STRING, DOUBLE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4714875" y="4368403"/>
            <a:ext cx="4000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277BD"/>
                </a:solidFill>
              </a:rPr>
              <a:t>Implementação Composta</a:t>
            </a:r>
            <a:endParaRPr lang="en-US" sz="584" dirty="0"/>
          </a:p>
        </p:txBody>
      </p:sp>
      <p:sp>
        <p:nvSpPr>
          <p:cNvPr id="34" name="Shape 31"/>
          <p:cNvSpPr/>
          <p:nvPr/>
        </p:nvSpPr>
        <p:spPr>
          <a:xfrm>
            <a:off x="4714875" y="4541639"/>
            <a:ext cx="4000500" cy="566142"/>
          </a:xfrm>
          <a:prstGeom prst="rect">
            <a:avLst/>
          </a:prstGeom>
          <a:solidFill>
            <a:srgbClr val="00897B">
              <a:alpha val="2000"/>
            </a:srgbClr>
          </a:solidFill>
          <a:ln w="18288">
            <a:solidFill>
              <a:srgbClr val="00897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22031" y="4648795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TipoProcedimento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4822031" y="4832747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Tipo que representa assinaturas de procedimentos</a:t>
            </a:r>
            <a:endParaRPr lang="en-US" sz="67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675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Interação entre Declarações e Tipos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41189"/>
            <a:ext cx="82867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Como a separação de responsabilidades habilita segurança de tipos e extensibilidade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428625" y="1373386"/>
            <a:ext cx="8286750" cy="1648755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1516261"/>
            <a:ext cx="8001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DeclaracaoParametro: A Ponte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71500" y="1737717"/>
            <a:ext cx="8001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 classe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DeclaracaoParametro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formaliza a relação entre declarações e tipos, compondo um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Id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(identificador) com um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Tipo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(tipo de dado).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571500" y="1969164"/>
            <a:ext cx="8001000" cy="578644"/>
          </a:xfrm>
          <a:prstGeom prst="rect">
            <a:avLst/>
          </a:prstGeom>
          <a:solidFill>
            <a:srgbClr val="0277BD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969164"/>
            <a:ext cx="14288" cy="578644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1969164"/>
            <a:ext cx="8001000" cy="57864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public class DeclaracaoParametro {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 private Id id;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 private Tipo tipo;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277BD"/>
                </a:solidFill>
              </a:rPr>
              <a:t> }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71500" y="2619245"/>
            <a:ext cx="8001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Essa composição garante que cada identificador tem um tipo bem definido, permitindo verificação de tipos em tempo de compilação.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428625" y="3172160"/>
            <a:ext cx="8286750" cy="1603772"/>
          </a:xfrm>
          <a:prstGeom prst="rect">
            <a:avLst/>
          </a:prstGeom>
          <a:solidFill>
            <a:srgbClr val="0277BD">
              <a:alpha val="2000"/>
            </a:srgbClr>
          </a:solidFill>
          <a:ln w="18288">
            <a:solidFill>
              <a:srgbClr val="0277B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3315035"/>
            <a:ext cx="8001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Benefícios da Separação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700088" y="3536491"/>
            <a:ext cx="38004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Verificação de Tipos em Compilação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700088" y="3720443"/>
            <a:ext cx="38004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Erros de tipo são detectados antes da execução, aumentando a segurança do código.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772025" y="3536491"/>
            <a:ext cx="38004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Reutilização de Tipos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4772025" y="3720443"/>
            <a:ext cx="38004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Um mesmo tipo pode ser usado em diferentes contextos e declarações sem duplicação.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700088" y="4141924"/>
            <a:ext cx="38004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Extensão com Novos Tipos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700088" y="4325875"/>
            <a:ext cx="38004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Novos tipos podem ser adicionados implementando a interface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Tipo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sem modificar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código existente.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4772025" y="4141924"/>
            <a:ext cx="38004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Facilita Manutenibilidade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4772025" y="4325875"/>
            <a:ext cx="38004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Mudanças no sistema de tipos não afetam a estrutura das declarações e vice-versa.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428625" y="4925950"/>
            <a:ext cx="8286750" cy="855799"/>
          </a:xfrm>
          <a:prstGeom prst="rect">
            <a:avLst/>
          </a:prstGeom>
          <a:solidFill>
            <a:srgbClr val="00897B">
              <a:alpha val="2000"/>
            </a:srgbClr>
          </a:solidFill>
          <a:ln w="18288">
            <a:solidFill>
              <a:srgbClr val="00897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1500" y="5068825"/>
            <a:ext cx="8001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Conclusão: Arquitetura Extensível e Segura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71500" y="5290282"/>
            <a:ext cx="80010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 separação clara entre declarações (que estruturam o código) e tipos (que validam dados) cria uma arquitetura robusta, extensível e segura. Essa separação é fundamental para suportar a evolução futura da linguagem, permitindo a adição de novos tipos e construtos sem comprometer a integridade do sistema existente.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870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Arquitetura Orientada a Padrões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12627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Síntese das conclusões arquiteturais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428625" y="1596628"/>
            <a:ext cx="2619356" cy="1611585"/>
          </a:xfrm>
          <a:prstGeom prst="rect">
            <a:avLst/>
          </a:prstGeom>
          <a:solidFill>
            <a:srgbClr val="0277BD">
              <a:alpha val="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596628"/>
            <a:ext cx="2619356" cy="28575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7" name="Text 4"/>
          <p:cNvSpPr/>
          <p:nvPr/>
        </p:nvSpPr>
        <p:spPr>
          <a:xfrm>
            <a:off x="607219" y="1775222"/>
            <a:ext cx="226216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277BD"/>
                </a:solidFill>
              </a:rPr>
              <a:t>01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607219" y="2119908"/>
            <a:ext cx="2262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Coerência Arquitetural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607219" y="2361009"/>
            <a:ext cx="2262169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O uso consistente dos padrões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277BD"/>
                </a:solidFill>
              </a:rPr>
              <a:t>Composite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e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277BD"/>
                </a:solidFill>
              </a:rPr>
              <a:t>Strategy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garante flexibilidade e extensibilidade.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 hierarquia de classes é bem estruturada 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segue princípios sólidos de design.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3262294" y="1596628"/>
            <a:ext cx="2619384" cy="1611585"/>
          </a:xfrm>
          <a:prstGeom prst="rect">
            <a:avLst/>
          </a:prstGeom>
          <a:solidFill>
            <a:srgbClr val="00897B">
              <a:alpha val="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262294" y="1596628"/>
            <a:ext cx="2619384" cy="28575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9"/>
          <p:cNvSpPr/>
          <p:nvPr/>
        </p:nvSpPr>
        <p:spPr>
          <a:xfrm>
            <a:off x="3440888" y="1775222"/>
            <a:ext cx="226219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897B"/>
                </a:solidFill>
              </a:rPr>
              <a:t>02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3440888" y="2119908"/>
            <a:ext cx="22621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Separação de Preocupações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440888" y="2361009"/>
            <a:ext cx="2262197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O domínio de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Expressões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(avaliação e tipo) está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completamente separado do domínio de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Comandos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(efeitos colaterais e estado),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promovendo manutenibilidade.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6095991" y="1596628"/>
            <a:ext cx="2619356" cy="1611585"/>
          </a:xfrm>
          <a:prstGeom prst="rect">
            <a:avLst/>
          </a:prstGeom>
          <a:solidFill>
            <a:srgbClr val="0277BD">
              <a:alpha val="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095991" y="1596628"/>
            <a:ext cx="2619356" cy="28575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7" name="Text 14"/>
          <p:cNvSpPr/>
          <p:nvPr/>
        </p:nvSpPr>
        <p:spPr>
          <a:xfrm>
            <a:off x="6274584" y="1775222"/>
            <a:ext cx="226216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277BD"/>
                </a:solidFill>
              </a:rPr>
              <a:t>03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6274584" y="2119908"/>
            <a:ext cx="2262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Pronto para Implementação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274584" y="2361009"/>
            <a:ext cx="226216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 arquitetura está bem definida e pronta para a implementação dos ambientes de execução e compilação, que gerenciam estado, contexto de tipagem e efeitos colaterais.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428625" y="3822576"/>
            <a:ext cx="8286750" cy="11072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822576"/>
            <a:ext cx="21431" cy="1107281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2" name="Text 19"/>
          <p:cNvSpPr/>
          <p:nvPr/>
        </p:nvSpPr>
        <p:spPr>
          <a:xfrm>
            <a:off x="607219" y="3822576"/>
            <a:ext cx="8108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277BD"/>
                </a:solidFill>
              </a:rPr>
              <a:t>Conclusão Final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07219" y="4044032"/>
            <a:ext cx="642937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O diagrama de classes revela uma arquitetura robusta e bem pensada para a construção de uma linguagem de programação. A aplicação consistente de padrões de design clássicos (Composite, Strategy, Builder) garante que o código seja extensível, mantível e preparado para evolução futura. A separação clara entre domínios de responsabilidade permite que cada componente seja desenvolvido e testado independentemente, enquanto mantém a coesão do sistema como um todo.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2025-11-17T15:48:38Z</dcterms:created>
  <dcterms:modified xsi:type="dcterms:W3CDTF">2025-11-17T15:48:38Z</dcterms:modified>
</cp:coreProperties>
</file>