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72" r:id="rId3"/>
    <p:sldId id="257" r:id="rId4"/>
    <p:sldId id="273" r:id="rId5"/>
    <p:sldId id="269" r:id="rId6"/>
    <p:sldId id="274" r:id="rId7"/>
    <p:sldId id="279" r:id="rId8"/>
    <p:sldId id="270" r:id="rId9"/>
    <p:sldId id="271" r:id="rId10"/>
    <p:sldId id="276" r:id="rId11"/>
    <p:sldId id="277" r:id="rId12"/>
    <p:sldId id="278" r:id="rId13"/>
    <p:sldId id="275" r:id="rId14"/>
    <p:sldId id="268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Light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69412" autoAdjust="0"/>
  </p:normalViewPr>
  <p:slideViewPr>
    <p:cSldViewPr snapToGrid="0">
      <p:cViewPr varScale="1">
        <p:scale>
          <a:sx n="75" d="100"/>
          <a:sy n="75" d="100"/>
        </p:scale>
        <p:origin x="1694" y="72"/>
      </p:cViewPr>
      <p:guideLst>
        <p:guide orient="horz" pos="1620"/>
        <p:guide pos="2880"/>
        <p:guide orient="horz" pos="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33b2d921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33b2d921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3D19794-074D-C288-1ECE-A121CBDC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3356CF5F-10FC-DBB4-E933-A7F640FC2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F81EF270-02E0-2811-A2E8-69A2BAB9F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304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23f4d673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23f4d673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D808BCF-978F-1CF2-117E-68FA6340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A19D5587-7C2B-16DF-5E94-BA95CC197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1E7CA3C2-A145-DE32-441B-FF21AB126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14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94AF1D5-FB33-6036-C542-65D56C24A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23f4d673_1_14:notes">
            <a:extLst>
              <a:ext uri="{FF2B5EF4-FFF2-40B4-BE49-F238E27FC236}">
                <a16:creationId xmlns:a16="http://schemas.microsoft.com/office/drawing/2014/main" id="{4BCAEAE7-1ECF-9BF4-6AD7-C5FE441A4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23f4d673_1_14:notes">
            <a:extLst>
              <a:ext uri="{FF2B5EF4-FFF2-40B4-BE49-F238E27FC236}">
                <a16:creationId xmlns:a16="http://schemas.microsoft.com/office/drawing/2014/main" id="{F5165162-1F1C-C4C4-89CE-FDD44C8F6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8164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A667FA4-D878-309E-6520-260406FD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ED493273-7F3B-5280-0B0F-EE1A23137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DF15B924-64BF-FAF4-B170-6C40D4167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051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C943181-7692-92CF-3845-3986EF897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DC22F105-E041-F4AC-68E4-DBF95F69A8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E599665D-3F2F-8864-5E87-40FB63420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789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09B770FC-83ED-4788-6DA7-A002C21C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93C0D2B8-E4DF-787D-4433-3E2F2D14C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CCBFA390-3BB7-300D-F7FF-69793A732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b="1" dirty="0"/>
              <a:t>1. </a:t>
            </a:r>
            <a:r>
              <a:rPr lang="pt-BR" b="1" dirty="0" err="1"/>
              <a:t>ValorDouble</a:t>
            </a:r>
            <a:r>
              <a:rPr lang="pt-BR" b="1" dirty="0"/>
              <a:t>: A Precisão Numérica</a:t>
            </a:r>
          </a:p>
          <a:p>
            <a:r>
              <a:rPr lang="pt-BR" dirty="0"/>
              <a:t>No diagrama,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ValorDouble</a:t>
            </a:r>
            <a:r>
              <a:rPr lang="pt-BR" dirty="0"/>
              <a:t> é uma das subclasses de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ValorConcreto</a:t>
            </a:r>
            <a:r>
              <a:rPr lang="pt-BR" dirty="0"/>
              <a:t>.</a:t>
            </a:r>
          </a:p>
          <a:p>
            <a:r>
              <a:rPr lang="pt-BR" b="1" dirty="0"/>
              <a:t>O que é:</a:t>
            </a:r>
            <a:r>
              <a:rPr lang="pt-BR" dirty="0"/>
              <a:t> É a representação interna de números reais (ponto flutuante). Pra filtrar por exemplo salario &gt; 5100.75</a:t>
            </a:r>
          </a:p>
          <a:p>
            <a:r>
              <a:rPr lang="pt-BR" b="1" dirty="0"/>
              <a:t>Funcionamento:</a:t>
            </a:r>
            <a:r>
              <a:rPr lang="pt-BR" dirty="0"/>
              <a:t> Ele herda de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ValorConcreto</a:t>
            </a:r>
            <a:r>
              <a:rPr lang="pt-BR" dirty="0"/>
              <a:t>, o que significa que ele aproveita toda a estrutura genérica de "guardar um valor", mas especializa o tipo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pt-BR" dirty="0"/>
              <a:t> para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pt-BR" dirty="0"/>
              <a:t>. Isso permite que o interpretador faça operações matemáticas precisas necessárias para a análise de dados.</a:t>
            </a:r>
          </a:p>
          <a:p>
            <a:endParaRPr lang="pt-BR" dirty="0"/>
          </a:p>
          <a:p>
            <a:pPr marL="158750" indent="0">
              <a:buNone/>
            </a:pPr>
            <a:r>
              <a:rPr lang="pt-BR" b="1" dirty="0"/>
              <a:t>2. </a:t>
            </a:r>
            <a:r>
              <a:rPr lang="pt-BR" b="1" dirty="0" err="1"/>
              <a:t>ValorDataFrame</a:t>
            </a:r>
            <a:r>
              <a:rPr lang="pt-BR" b="1" dirty="0"/>
              <a:t>: O Coração da Análise</a:t>
            </a:r>
          </a:p>
          <a:p>
            <a:r>
              <a:rPr lang="pt-BR" dirty="0"/>
              <a:t>Esta é a classe mais complexa e importante da nova versão da linguagem. Note que ela implementa a interface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r>
              <a:rPr lang="pt-BR" dirty="0"/>
              <a:t> diretamente, indicando que um </a:t>
            </a:r>
            <a:r>
              <a:rPr lang="pt-BR" i="1" dirty="0" err="1"/>
              <a:t>Dataset</a:t>
            </a:r>
            <a:r>
              <a:rPr lang="pt-BR" dirty="0"/>
              <a:t> é tratado como um valor de "primeira classe" na linguagem.</a:t>
            </a:r>
          </a:p>
          <a:p>
            <a:r>
              <a:rPr lang="pt-BR" b="1" dirty="0"/>
              <a:t>O que é:</a:t>
            </a:r>
            <a:r>
              <a:rPr lang="pt-BR" dirty="0"/>
              <a:t> É a estrutura que armazena a tabela de dados carregada do arquivo CSV (via comando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r>
              <a:rPr lang="pt-BR" dirty="0"/>
              <a:t>).</a:t>
            </a:r>
          </a:p>
          <a:p>
            <a:r>
              <a:rPr lang="pt-BR" b="1" dirty="0"/>
              <a:t>Estrutura Interna (Atributos):</a:t>
            </a:r>
            <a:endParaRPr lang="pt-BR" dirty="0"/>
          </a:p>
          <a:p>
            <a:pPr lvl="1"/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Map&lt;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Tipo&gt;</a:t>
            </a:r>
            <a:r>
              <a:rPr lang="pt-BR" dirty="0"/>
              <a:t>: Funciona como o cabeçalho da tabela. Define o nome de cada coluna e qual tipo de dado ela guarda (</a:t>
            </a:r>
            <a:r>
              <a:rPr lang="pt-BR" dirty="0" err="1"/>
              <a:t>ex</a:t>
            </a:r>
            <a:r>
              <a:rPr lang="pt-BR" dirty="0"/>
              <a:t>: "Idade" -&gt; Inteiro, "Salário" -&gt; Double). Isso garante a segurança dos tipos durante a análise.</a:t>
            </a:r>
          </a:p>
          <a:p>
            <a:pPr lvl="1"/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&lt;Map&lt;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Valor&gt;&gt;</a:t>
            </a:r>
            <a:r>
              <a:rPr lang="pt-BR" dirty="0"/>
              <a:t>: É o conteúdo em si. É uma lista de linhas, onde cada linha é um mapa ligando o nome da coluna ao valor daquela célula.</a:t>
            </a:r>
          </a:p>
          <a:p>
            <a:r>
              <a:rPr lang="pt-BR" b="1" dirty="0"/>
              <a:t>Funcionalidades (Métodos):</a:t>
            </a:r>
            <a:endParaRPr lang="pt-BR" dirty="0"/>
          </a:p>
          <a:p>
            <a:pPr lvl="1"/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getSchema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b="1" dirty="0"/>
              <a:t> e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getRows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: Permitem que os comandos como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lang="pt-BR" dirty="0"/>
              <a:t> 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r>
              <a:rPr lang="pt-BR" dirty="0"/>
              <a:t> acessem os dados brutos para processá-los.</a:t>
            </a:r>
          </a:p>
          <a:p>
            <a:pPr lvl="1"/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createNew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pt-BR" dirty="0"/>
              <a:t>: Provavelmente usado para gerar um novo </a:t>
            </a:r>
            <a:r>
              <a:rPr lang="pt-BR" dirty="0" err="1"/>
              <a:t>DataFrame</a:t>
            </a:r>
            <a:r>
              <a:rPr lang="pt-BR" dirty="0"/>
              <a:t> após uma filtragem (</a:t>
            </a:r>
            <a:r>
              <a:rPr lang="pt-BR" dirty="0" err="1"/>
              <a:t>ex</a:t>
            </a:r>
            <a:r>
              <a:rPr lang="pt-BR" dirty="0"/>
              <a:t>: o comando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lang="pt-BR" dirty="0"/>
              <a:t> lê um </a:t>
            </a:r>
            <a:r>
              <a:rPr lang="pt-BR" dirty="0" err="1"/>
              <a:t>DataFrame</a:t>
            </a:r>
            <a:r>
              <a:rPr lang="pt-BR" dirty="0"/>
              <a:t>, seleciona linhas e retorna um </a:t>
            </a:r>
            <a:r>
              <a:rPr lang="pt-BR" b="1" dirty="0"/>
              <a:t>novo</a:t>
            </a:r>
            <a:r>
              <a:rPr lang="pt-BR" dirty="0"/>
              <a:t>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ValorDataFrame</a:t>
            </a:r>
            <a:r>
              <a:rPr lang="pt-BR" dirty="0"/>
              <a:t> menor).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0749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93501E58-B600-9FDE-7B75-F5FB2475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0AE8DF29-A8B6-47A0-2B6D-C4A877C2D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7BCF2C56-02FE-E3CB-57F7-0722101B5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b="1" dirty="0"/>
              <a:t>1. O Conceito Central: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ExpBinariaNumerica</a:t>
            </a:r>
            <a:endParaRPr lang="pt-BR" b="1" dirty="0"/>
          </a:p>
          <a:p>
            <a:r>
              <a:rPr lang="pt-BR" dirty="0"/>
              <a:t>Esta é uma </a:t>
            </a:r>
            <a:r>
              <a:rPr lang="pt-BR" b="1" dirty="0"/>
              <a:t>classe abstrata intermediária</a:t>
            </a:r>
            <a:r>
              <a:rPr lang="pt-BR" dirty="0"/>
              <a:t>. Ela existe para organizar o código e evitar repetição (princípio DRY - </a:t>
            </a:r>
            <a:r>
              <a:rPr lang="pt-BR" i="1" dirty="0" err="1"/>
              <a:t>Don't</a:t>
            </a:r>
            <a:r>
              <a:rPr lang="pt-BR" i="1" dirty="0"/>
              <a:t> </a:t>
            </a:r>
            <a:r>
              <a:rPr lang="pt-BR" i="1" dirty="0" err="1"/>
              <a:t>Repeat</a:t>
            </a:r>
            <a:r>
              <a:rPr lang="pt-BR" i="1" dirty="0"/>
              <a:t> </a:t>
            </a:r>
            <a:r>
              <a:rPr lang="pt-BR" i="1" dirty="0" err="1"/>
              <a:t>Yourself</a:t>
            </a:r>
            <a:r>
              <a:rPr lang="pt-BR" dirty="0"/>
              <a:t>).</a:t>
            </a:r>
          </a:p>
          <a:p>
            <a:r>
              <a:rPr lang="pt-BR" b="1" dirty="0"/>
              <a:t>O Problema que ela resolve:</a:t>
            </a:r>
            <a:r>
              <a:rPr lang="pt-BR" dirty="0"/>
              <a:t> Diferente de uma soma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ExpSoma</a:t>
            </a:r>
            <a:r>
              <a:rPr lang="pt-BR" dirty="0"/>
              <a:t>) que recebe números e devolve um número, as comparações (maior que, menor que, etc.) recebem </a:t>
            </a:r>
            <a:r>
              <a:rPr lang="pt-BR" b="1" dirty="0"/>
              <a:t>números</a:t>
            </a:r>
            <a:r>
              <a:rPr lang="pt-BR" dirty="0"/>
              <a:t> mas devolvem um </a:t>
            </a:r>
            <a:r>
              <a:rPr lang="pt-BR" b="1" dirty="0"/>
              <a:t>Booleano</a:t>
            </a:r>
            <a:r>
              <a:rPr lang="pt-BR" dirty="0"/>
              <a:t> (Verdadeiro ou Falso).</a:t>
            </a:r>
          </a:p>
          <a:p>
            <a:r>
              <a:rPr lang="pt-BR" b="1" dirty="0"/>
              <a:t>A Solução:</a:t>
            </a:r>
            <a:r>
              <a:rPr lang="pt-BR" dirty="0"/>
              <a:t> Em vez de repetir a lógica de "transformar em booleano" e "checar se é número" em cada operador individualmente, essa classe centraliza essas regras.</a:t>
            </a:r>
          </a:p>
          <a:p>
            <a:r>
              <a:rPr lang="pt-BR" b="1" dirty="0"/>
              <a:t>Funcionalidades Chave (Métodos):</a:t>
            </a:r>
            <a:endParaRPr lang="pt-BR" dirty="0"/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getTipo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(): BOOLEANO</a:t>
            </a:r>
            <a:r>
              <a:rPr lang="pt-BR" dirty="0"/>
              <a:t>: Define que, não importa a conta feita, o resultado final deste nó da árvore será sempre do tipo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BOOLEANO</a:t>
            </a:r>
            <a:r>
              <a:rPr lang="pt-BR" dirty="0"/>
              <a:t>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checaTipoElementoTerminal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: Valida se os dois lados da operação (operando esquerdo e direito) são compatíveis, garantindo que ambos sejam numéricos antes de tentar comparar.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getValorNumerico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(Valor)</a:t>
            </a:r>
            <a:r>
              <a:rPr lang="pt-BR" dirty="0"/>
              <a:t>: Um método auxiliar provável para extrair o valor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pt-BR" dirty="0"/>
              <a:t> puro de dentro dos objetos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r>
              <a:rPr lang="pt-BR" dirty="0"/>
              <a:t> ou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ValorConcreto</a:t>
            </a:r>
            <a:r>
              <a:rPr lang="pt-BR" dirty="0"/>
              <a:t>, normalizando a entrada para o cálculo.</a:t>
            </a:r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r>
              <a:rPr lang="pt-BR" b="1" dirty="0"/>
              <a:t>2. As Subclasses (Operadores Concretos)</a:t>
            </a:r>
          </a:p>
          <a:p>
            <a:r>
              <a:rPr lang="pt-BR" dirty="0"/>
              <a:t>Abaixo de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ExpBinariaNumerica</a:t>
            </a:r>
            <a:r>
              <a:rPr lang="pt-BR" dirty="0"/>
              <a:t>, temos as classes que executam as comparações reais. Cada uma representa um operador lógico que você usará, por exemplo, no comando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: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ExpGt</a:t>
            </a:r>
            <a:r>
              <a:rPr lang="pt-BR" b="1" dirty="0"/>
              <a:t> (</a:t>
            </a:r>
            <a:r>
              <a:rPr lang="pt-BR" b="1" dirty="0" err="1"/>
              <a:t>Greater</a:t>
            </a:r>
            <a:r>
              <a:rPr lang="pt-BR" b="1" dirty="0"/>
              <a:t> </a:t>
            </a:r>
            <a:r>
              <a:rPr lang="pt-BR" b="1" dirty="0" err="1"/>
              <a:t>Than</a:t>
            </a:r>
            <a:r>
              <a:rPr lang="pt-BR" b="1" dirty="0"/>
              <a:t>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pt-BR" b="1" dirty="0"/>
              <a:t>):</a:t>
            </a:r>
            <a:r>
              <a:rPr lang="pt-BR" dirty="0"/>
              <a:t> Verifica se o valor da esquerda é estritamente maior que o da direita.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ExpLt</a:t>
            </a:r>
            <a:r>
              <a:rPr lang="pt-BR" b="1" dirty="0"/>
              <a:t> (</a:t>
            </a:r>
            <a:r>
              <a:rPr lang="pt-BR" b="1" dirty="0" err="1"/>
              <a:t>Less</a:t>
            </a:r>
            <a:r>
              <a:rPr lang="pt-BR" b="1" dirty="0"/>
              <a:t> </a:t>
            </a:r>
            <a:r>
              <a:rPr lang="pt-BR" b="1" dirty="0" err="1"/>
              <a:t>Than</a:t>
            </a:r>
            <a:r>
              <a:rPr lang="pt-BR" b="1" dirty="0"/>
              <a:t>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pt-BR" b="1" dirty="0"/>
              <a:t>):</a:t>
            </a:r>
            <a:r>
              <a:rPr lang="pt-BR" dirty="0"/>
              <a:t> Verifica se o valor da esquerda é estritamente menor.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ExpGe</a:t>
            </a:r>
            <a:r>
              <a:rPr lang="pt-BR" b="1" dirty="0"/>
              <a:t> (</a:t>
            </a:r>
            <a:r>
              <a:rPr lang="pt-BR" b="1" dirty="0" err="1"/>
              <a:t>Greater</a:t>
            </a:r>
            <a:r>
              <a:rPr lang="pt-BR" b="1" dirty="0"/>
              <a:t> </a:t>
            </a:r>
            <a:r>
              <a:rPr lang="pt-BR" b="1" dirty="0" err="1"/>
              <a:t>or</a:t>
            </a:r>
            <a:r>
              <a:rPr lang="pt-BR" b="1" dirty="0"/>
              <a:t> </a:t>
            </a:r>
            <a:r>
              <a:rPr lang="pt-BR" b="1" dirty="0" err="1"/>
              <a:t>Equal</a:t>
            </a:r>
            <a:r>
              <a:rPr lang="pt-BR" b="1" dirty="0"/>
              <a:t>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&gt;=</a:t>
            </a:r>
            <a:r>
              <a:rPr lang="pt-BR" b="1" dirty="0"/>
              <a:t>):</a:t>
            </a:r>
            <a:r>
              <a:rPr lang="pt-BR" dirty="0"/>
              <a:t> Maior ou igual.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ExpLe</a:t>
            </a:r>
            <a:r>
              <a:rPr lang="pt-BR" b="1" dirty="0"/>
              <a:t> (</a:t>
            </a:r>
            <a:r>
              <a:rPr lang="pt-BR" b="1" dirty="0" err="1"/>
              <a:t>Less</a:t>
            </a:r>
            <a:r>
              <a:rPr lang="pt-BR" b="1" dirty="0"/>
              <a:t> </a:t>
            </a:r>
            <a:r>
              <a:rPr lang="pt-BR" b="1" dirty="0" err="1"/>
              <a:t>or</a:t>
            </a:r>
            <a:r>
              <a:rPr lang="pt-BR" b="1" dirty="0"/>
              <a:t> </a:t>
            </a:r>
            <a:r>
              <a:rPr lang="pt-BR" b="1" dirty="0" err="1"/>
              <a:t>Equal</a:t>
            </a:r>
            <a:r>
              <a:rPr lang="pt-BR" b="1" dirty="0"/>
              <a:t>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&lt;=</a:t>
            </a:r>
            <a:r>
              <a:rPr lang="pt-BR" b="1" dirty="0"/>
              <a:t>):</a:t>
            </a:r>
            <a:r>
              <a:rPr lang="pt-BR" dirty="0"/>
              <a:t> Menor ou igual.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ExpNe</a:t>
            </a:r>
            <a:r>
              <a:rPr lang="pt-BR" b="1" dirty="0"/>
              <a:t> (</a:t>
            </a:r>
            <a:r>
              <a:rPr lang="pt-BR" b="1" dirty="0" err="1"/>
              <a:t>Not</a:t>
            </a:r>
            <a:r>
              <a:rPr lang="pt-BR" b="1" dirty="0"/>
              <a:t> </a:t>
            </a:r>
            <a:r>
              <a:rPr lang="pt-BR" b="1" dirty="0" err="1"/>
              <a:t>Equal</a:t>
            </a:r>
            <a:r>
              <a:rPr lang="pt-BR" b="1" dirty="0"/>
              <a:t>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!=</a:t>
            </a:r>
            <a:r>
              <a:rPr lang="pt-BR" b="1" dirty="0"/>
              <a:t>):</a:t>
            </a:r>
            <a:r>
              <a:rPr lang="pt-BR" dirty="0"/>
              <a:t> Diferente de. Note que, neste diagrama, ele está classificado como comparação numérica.</a:t>
            </a:r>
          </a:p>
        </p:txBody>
      </p:sp>
    </p:spTree>
    <p:extLst>
      <p:ext uri="{BB962C8B-B14F-4D97-AF65-F5344CB8AC3E}">
        <p14:creationId xmlns:p14="http://schemas.microsoft.com/office/powerpoint/2010/main" val="1451031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943ECE0-63FB-E6DC-7F87-7B968A40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77ECA81F-5634-CEE5-1531-57FF29636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04F93A06-73CA-6291-DA73-51C92A30C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Este slide mostra como organizamos os comandos estatísticos para garantir </a:t>
            </a:r>
            <a:r>
              <a:rPr lang="pt-BR" b="1" dirty="0"/>
              <a:t>modularidade</a:t>
            </a:r>
            <a:r>
              <a:rPr lang="pt-BR" dirty="0"/>
              <a:t>. Criamos uma classe genérica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ComandoEstatisticoAbstrato</a:t>
            </a:r>
            <a:r>
              <a:rPr lang="pt-BR" dirty="0"/>
              <a:t>) que lida com a manipulação dos dados e acesso à memória.</a:t>
            </a:r>
          </a:p>
          <a:p>
            <a:r>
              <a:rPr lang="pt-BR" dirty="0"/>
              <a:t>Isso permite que as classes específicas (como Média ou Desvio Padrão) foquem puramente na matemática. A grande vantagem dessa arquitetura é a </a:t>
            </a:r>
            <a:r>
              <a:rPr lang="pt-BR" b="1" dirty="0"/>
              <a:t>extensibilidade</a:t>
            </a:r>
            <a:r>
              <a:rPr lang="pt-BR" dirty="0"/>
              <a:t>: se quisermos criar um novo comando estatístico no futuro, basta implementar a fórmula matemática, sem precisar reescrever a lógica de acesso aos dados."</a:t>
            </a:r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r>
              <a:rPr lang="pt-BR" b="1" dirty="0"/>
              <a:t>1. A Base: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</a:t>
            </a:r>
            <a:r>
              <a:rPr lang="pt-BR" b="1" dirty="0"/>
              <a:t> (Interface)</a:t>
            </a:r>
          </a:p>
          <a:p>
            <a:r>
              <a:rPr lang="pt-BR" dirty="0"/>
              <a:t>No topo, temos a interface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</a:t>
            </a:r>
            <a:r>
              <a:rPr lang="pt-BR" dirty="0"/>
              <a:t>. Isso indica que, para o interpretador da linguagem, um cálculo estatístico é tratado como qualquer outra instrução executável. Ele deve saber se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executar()</a:t>
            </a:r>
            <a:r>
              <a:rPr lang="pt-BR" dirty="0"/>
              <a:t> e se verificar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checaTipo</a:t>
            </a:r>
            <a:r>
              <a:rPr lang="pt-BR" dirty="0"/>
              <a:t>).</a:t>
            </a:r>
          </a:p>
          <a:p>
            <a:r>
              <a:rPr lang="pt-BR" b="1" dirty="0"/>
              <a:t>2. O Cérebro: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ComandoEstatisticoAbstrato</a:t>
            </a:r>
            <a:r>
              <a:rPr lang="pt-BR" b="1" dirty="0"/>
              <a:t> (Classe Abstrata)</a:t>
            </a:r>
          </a:p>
          <a:p>
            <a:r>
              <a:rPr lang="pt-BR" dirty="0"/>
              <a:t>Esta é a peça mais importante do diagrama. Em vez de cada comando (Média, Mediana, Variância) ter que saber como buscar variáveis na memória ou ler colunas, essa classe "pai" centraliza todo o trabalho pesado.</a:t>
            </a:r>
          </a:p>
          <a:p>
            <a:r>
              <a:rPr lang="pt-BR" b="1" dirty="0"/>
              <a:t>Atributos Compartilhados:</a:t>
            </a:r>
            <a:endParaRPr lang="pt-BR" dirty="0"/>
          </a:p>
          <a:p>
            <a:pPr lvl="1"/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idVariavelCsv</a:t>
            </a:r>
            <a:r>
              <a:rPr lang="pt-BR" dirty="0"/>
              <a:t>: Onde está o </a:t>
            </a:r>
            <a:r>
              <a:rPr lang="pt-BR" dirty="0" err="1"/>
              <a:t>DataFrame</a:t>
            </a:r>
            <a:r>
              <a:rPr lang="pt-BR" dirty="0"/>
              <a:t> (</a:t>
            </a:r>
            <a:r>
              <a:rPr lang="pt-BR" dirty="0" err="1"/>
              <a:t>ex</a:t>
            </a:r>
            <a:r>
              <a:rPr lang="pt-BR" dirty="0"/>
              <a:t>: "</a:t>
            </a:r>
            <a:r>
              <a:rPr lang="pt-BR" dirty="0" err="1"/>
              <a:t>meus_dados</a:t>
            </a:r>
            <a:r>
              <a:rPr lang="pt-BR" dirty="0"/>
              <a:t>").</a:t>
            </a:r>
          </a:p>
          <a:p>
            <a:pPr lvl="1"/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nomeColuna</a:t>
            </a:r>
            <a:r>
              <a:rPr lang="pt-BR" dirty="0"/>
              <a:t>: Qual coluna analisar (</a:t>
            </a:r>
            <a:r>
              <a:rPr lang="pt-BR" dirty="0" err="1"/>
              <a:t>ex</a:t>
            </a:r>
            <a:r>
              <a:rPr lang="pt-BR" dirty="0"/>
              <a:t>: "salario").</a:t>
            </a:r>
          </a:p>
          <a:p>
            <a:pPr lvl="1"/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idVariavelDestino</a:t>
            </a:r>
            <a:r>
              <a:rPr lang="pt-BR" dirty="0"/>
              <a:t>: Onde guardar o resultado (</a:t>
            </a:r>
            <a:r>
              <a:rPr lang="pt-BR" dirty="0" err="1"/>
              <a:t>ex</a:t>
            </a:r>
            <a:r>
              <a:rPr lang="pt-BR" dirty="0"/>
              <a:t>: "</a:t>
            </a:r>
            <a:r>
              <a:rPr lang="pt-BR" dirty="0" err="1"/>
              <a:t>media_salario</a:t>
            </a:r>
            <a:r>
              <a:rPr lang="pt-BR" dirty="0"/>
              <a:t>").</a:t>
            </a:r>
          </a:p>
          <a:p>
            <a:r>
              <a:rPr lang="pt-BR" b="1" dirty="0"/>
              <a:t>O Fluxo de Execução (A nota amarela):</a:t>
            </a:r>
            <a:r>
              <a:rPr lang="pt-BR" dirty="0"/>
              <a:t> A classe abstrata define um "esqueleto" de execução:</a:t>
            </a:r>
          </a:p>
          <a:p>
            <a:pPr lvl="1"/>
            <a:r>
              <a:rPr lang="pt-BR" dirty="0"/>
              <a:t>Recupera o objeto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ValorDataFrame</a:t>
            </a:r>
            <a:r>
              <a:rPr lang="pt-BR" dirty="0"/>
              <a:t> da memória.</a:t>
            </a:r>
          </a:p>
          <a:p>
            <a:pPr lvl="1"/>
            <a:r>
              <a:rPr lang="pt-BR" dirty="0"/>
              <a:t>Extrai a coluna especificada.</a:t>
            </a:r>
          </a:p>
          <a:p>
            <a:pPr lvl="1"/>
            <a:r>
              <a:rPr lang="pt-BR" dirty="0"/>
              <a:t>Converte os dados para uma lista de números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&lt;Double&gt;</a:t>
            </a:r>
            <a:r>
              <a:rPr lang="pt-BR" dirty="0"/>
              <a:t>).</a:t>
            </a:r>
          </a:p>
          <a:p>
            <a:pPr lvl="1"/>
            <a:r>
              <a:rPr lang="pt-BR" b="1" dirty="0"/>
              <a:t>Delega o cálculo matemático</a:t>
            </a:r>
            <a:r>
              <a:rPr lang="pt-BR" dirty="0"/>
              <a:t> para a classe filha.</a:t>
            </a:r>
          </a:p>
          <a:p>
            <a:pPr lvl="1"/>
            <a:r>
              <a:rPr lang="pt-BR" dirty="0"/>
              <a:t>Armazena o resultado final na memória.</a:t>
            </a:r>
          </a:p>
          <a:p>
            <a:r>
              <a:rPr lang="pt-BR" b="1" dirty="0"/>
              <a:t>3. Os Especialistas: Classes Concretas (Parte Inferior)</a:t>
            </a:r>
          </a:p>
          <a:p>
            <a:r>
              <a:rPr lang="pt-BR" dirty="0"/>
              <a:t>Na base do diagrama estão os comandos específicos: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r>
              <a:rPr lang="pt-BR" dirty="0"/>
              <a:t>,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pt-BR" dirty="0"/>
              <a:t>,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Std</a:t>
            </a:r>
            <a:r>
              <a:rPr lang="pt-BR" dirty="0"/>
              <a:t>, etc.</a:t>
            </a:r>
          </a:p>
          <a:p>
            <a:r>
              <a:rPr lang="pt-BR" dirty="0"/>
              <a:t>Como a lógica de </a:t>
            </a:r>
            <a:r>
              <a:rPr lang="pt-BR" i="1" dirty="0"/>
              <a:t>buscar dados</a:t>
            </a:r>
            <a:r>
              <a:rPr lang="pt-BR" dirty="0"/>
              <a:t> já foi resolvida pelo pai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ComandoEstatisticoAbstrato</a:t>
            </a:r>
            <a:r>
              <a:rPr lang="pt-BR" dirty="0"/>
              <a:t>), essas classes são muito simples e focadas.</a:t>
            </a:r>
          </a:p>
          <a:p>
            <a:r>
              <a:rPr lang="pt-BR" dirty="0"/>
              <a:t>Elas apenas implementam o método abstrato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#calcular()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Exemplo: A classe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r>
              <a:rPr lang="pt-BR" dirty="0"/>
              <a:t> só precisa receber uma lista de números, somar e dividir pelo tamanho. Ela não precisa saber o que é um CSV ou um </a:t>
            </a:r>
            <a:r>
              <a:rPr lang="pt-BR" dirty="0" err="1"/>
              <a:t>DataFrame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3868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54E9204-49F6-3790-0822-86E1F789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F2C4CB9B-519A-41EE-1028-6FE9D681E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29360D51-677C-3C9F-69D1-EA1F910B9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dirty="0"/>
              <a:t>"Enquanto os comandos estatísticos fazem os cálculos, este grupo de comandos gerencia o </a:t>
            </a:r>
            <a:r>
              <a:rPr lang="pt-BR" b="1" dirty="0"/>
              <a:t>ciclo de vida dos dados</a:t>
            </a:r>
            <a:r>
              <a:rPr lang="pt-BR" dirty="0"/>
              <a:t>. Aqui definimos como os dados entram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r>
              <a:rPr lang="pt-BR" dirty="0"/>
              <a:t>), como são transformados de forma segura e imutável (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lang="pt-BR" dirty="0"/>
              <a:t>), como são visualizados (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</a:t>
            </a:r>
            <a:r>
              <a:rPr lang="pt-BR" dirty="0"/>
              <a:t>,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pt-BR" dirty="0"/>
              <a:t>) e como são exportados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pt-BR" dirty="0"/>
              <a:t>). O destaque técnico é a implementação da </a:t>
            </a:r>
            <a:r>
              <a:rPr lang="pt-BR" b="1" dirty="0"/>
              <a:t>imutabilidade no filtro</a:t>
            </a:r>
            <a:r>
              <a:rPr lang="pt-BR" dirty="0"/>
              <a:t>, garantindo integridade dos dados durante toda a execução."</a:t>
            </a:r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r>
              <a:rPr lang="pt-BR" b="1" dirty="0"/>
              <a:t>1. Visão Geral: O Padrão "Command"</a:t>
            </a:r>
          </a:p>
          <a:p>
            <a:r>
              <a:rPr lang="pt-BR" dirty="0"/>
              <a:t>Novamente, todos estes blocos herdam da interface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</a:t>
            </a:r>
            <a:r>
              <a:rPr lang="pt-BR" dirty="0"/>
              <a:t>. Isso reforça a consistência da linguagem: carregar um arquivo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r>
              <a:rPr lang="pt-BR" dirty="0"/>
              <a:t>) é tratado pelo interpretador da mesma forma estrutural que chamar uma função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ChamadaProcedimento</a:t>
            </a:r>
            <a:r>
              <a:rPr lang="pt-BR" dirty="0"/>
              <a:t>).</a:t>
            </a:r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r>
              <a:rPr lang="pt-BR" b="1" dirty="0"/>
              <a:t>2. Entrada e Saída (I/O) - O Início e o Fim</a:t>
            </a:r>
          </a:p>
          <a:p>
            <a:r>
              <a:rPr lang="pt-BR" dirty="0"/>
              <a:t>Os comandos das pontas (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r>
              <a:rPr lang="pt-BR" dirty="0"/>
              <a:t> e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pt-BR" dirty="0"/>
              <a:t>) são a ponte entre sua linguagem e o sistema de arquivos.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r>
              <a:rPr lang="pt-BR" b="1" dirty="0"/>
              <a:t>:</a:t>
            </a:r>
            <a:r>
              <a:rPr lang="pt-BR" dirty="0"/>
              <a:t> É o ponto de partida. A nota amarela destaca algo crucial: ele usa um </a:t>
            </a:r>
            <a:r>
              <a:rPr lang="pt-BR" b="1" dirty="0" err="1"/>
              <a:t>ParserCSV</a:t>
            </a:r>
            <a:r>
              <a:rPr lang="pt-BR" dirty="0"/>
              <a:t>. Isso significa que a complexidade de ler um arquivo de texto vírgula-por-vírgula está encapsulada aqui. O resultado é a criação do objeto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ValorDataFrame</a:t>
            </a:r>
            <a:r>
              <a:rPr lang="pt-BR" dirty="0"/>
              <a:t> na memória.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pt-BR" b="1" dirty="0"/>
              <a:t>:</a:t>
            </a:r>
            <a:r>
              <a:rPr lang="pt-BR" dirty="0"/>
              <a:t> Permite persistir os resultados. Após filtrar e calcular médias, o usuário pode salvar o novo conjunto de dados processado de volta em um arquivo CSV.</a:t>
            </a:r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r>
              <a:rPr lang="pt-BR" b="1" dirty="0"/>
              <a:t>3. O Coração da Manipulação: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endParaRPr lang="pt-BR" b="1" dirty="0"/>
          </a:p>
          <a:p>
            <a:r>
              <a:rPr lang="pt-BR" dirty="0"/>
              <a:t>Este é o comando mais sofisticado deste diagrama.</a:t>
            </a:r>
          </a:p>
          <a:p>
            <a:r>
              <a:rPr lang="pt-BR" b="1" dirty="0"/>
              <a:t>Imutabilidade (Ponto Chave):</a:t>
            </a:r>
            <a:r>
              <a:rPr lang="pt-BR" dirty="0"/>
              <a:t> A nota amarela em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lang="pt-BR" dirty="0"/>
              <a:t> destaca um conceito de design moderno: </a:t>
            </a:r>
            <a:r>
              <a:rPr lang="pt-BR" i="1" dirty="0"/>
              <a:t>"Retorna um novo </a:t>
            </a:r>
            <a:r>
              <a:rPr lang="pt-BR" i="1" dirty="0" err="1"/>
              <a:t>DataFrame</a:t>
            </a:r>
            <a:r>
              <a:rPr lang="pt-BR" i="1" dirty="0"/>
              <a:t> mantendo o original intacto"</a:t>
            </a:r>
            <a:r>
              <a:rPr lang="pt-BR" dirty="0"/>
              <a:t>.</a:t>
            </a:r>
          </a:p>
          <a:p>
            <a:pPr lvl="1"/>
            <a:r>
              <a:rPr lang="pt-BR" i="1" dirty="0"/>
              <a:t>Explicação para o público:</a:t>
            </a:r>
            <a:r>
              <a:rPr lang="pt-BR" dirty="0"/>
              <a:t> "Isso é vital para segurança de dados. Se você filtrar uma tabela para ver apenas 'Pessoas com mais de 30 anos', nós não apagamos os dados originais. Criamos uma </a:t>
            </a:r>
            <a:r>
              <a:rPr lang="pt-BR" b="1" dirty="0"/>
              <a:t>cópia</a:t>
            </a:r>
            <a:r>
              <a:rPr lang="pt-BR" dirty="0"/>
              <a:t> filtrada. Isso permite fazer várias análises diferentes sobre a mesma base original sem precisar recarregá-la."</a:t>
            </a:r>
          </a:p>
          <a:p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condicao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Expressao</a:t>
            </a:r>
            <a:r>
              <a:rPr lang="pt-BR" dirty="0"/>
              <a:t>: O filtro aceita uma expressão lógica (aquelas classes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ExpGt</a:t>
            </a:r>
            <a:r>
              <a:rPr lang="pt-BR" dirty="0"/>
              <a:t>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ExpLt</a:t>
            </a:r>
            <a:r>
              <a:rPr lang="pt-BR" dirty="0"/>
              <a:t> que vimos no outro diagrama) para decidir o que fica e o que sai.</a:t>
            </a:r>
          </a:p>
          <a:p>
            <a:pPr marL="158750" indent="0">
              <a:buNone/>
            </a:pPr>
            <a:endParaRPr lang="pt-BR" b="1" dirty="0"/>
          </a:p>
          <a:p>
            <a:pPr marL="158750" indent="0">
              <a:buNone/>
            </a:pPr>
            <a:r>
              <a:rPr lang="pt-BR" b="1" dirty="0"/>
              <a:t>4. Utilitários: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</a:t>
            </a:r>
            <a:r>
              <a:rPr lang="pt-BR" b="1" dirty="0"/>
              <a:t> e </a:t>
            </a:r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endParaRPr lang="pt-BR" b="1" dirty="0"/>
          </a:p>
          <a:p>
            <a:r>
              <a:rPr lang="pt-BR" dirty="0"/>
              <a:t>São comandos de suporte para o analista ver o que está acontecendo.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</a:t>
            </a:r>
            <a:r>
              <a:rPr lang="pt-BR" dirty="0"/>
              <a:t>: Essencial para depuração e visualização. Ele imprime o </a:t>
            </a:r>
            <a:r>
              <a:rPr lang="pt-BR" dirty="0" err="1"/>
              <a:t>DataFrame</a:t>
            </a:r>
            <a:r>
              <a:rPr lang="pt-BR" dirty="0"/>
              <a:t> na tela (provavelmente formatado como tabela). O atributo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limiteExpressao</a:t>
            </a:r>
            <a:r>
              <a:rPr lang="pt-BR" dirty="0"/>
              <a:t> sugere que você pode limitar quantas linhas aparecem (como um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pt-BR" dirty="0"/>
              <a:t> do Pandas), para não poluir o terminal.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pt-BR" dirty="0"/>
              <a:t>: Uma operação rápida para saber o tamanho do </a:t>
            </a:r>
            <a:r>
              <a:rPr lang="pt-BR" dirty="0" err="1"/>
              <a:t>dataset</a:t>
            </a:r>
            <a:r>
              <a:rPr lang="pt-BR" dirty="0"/>
              <a:t> (número de linhas).</a:t>
            </a:r>
          </a:p>
        </p:txBody>
      </p:sp>
    </p:spTree>
    <p:extLst>
      <p:ext uri="{BB962C8B-B14F-4D97-AF65-F5344CB8AC3E}">
        <p14:creationId xmlns:p14="http://schemas.microsoft.com/office/powerpoint/2010/main" val="1310564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516AA00-0424-55D0-C10B-4FEBA6D5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>
            <a:extLst>
              <a:ext uri="{FF2B5EF4-FFF2-40B4-BE49-F238E27FC236}">
                <a16:creationId xmlns:a16="http://schemas.microsoft.com/office/drawing/2014/main" id="{86D0209E-E318-A939-51FE-A52921904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>
            <a:extLst>
              <a:ext uri="{FF2B5EF4-FFF2-40B4-BE49-F238E27FC236}">
                <a16:creationId xmlns:a16="http://schemas.microsoft.com/office/drawing/2014/main" id="{4AFDCDBD-C8DC-D61F-C447-C12BBA4EE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62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33989f04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33989f04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6" name="Google Shape;16;p2" descr="E:\05.03.18 bkp\Documentos\João Victor\UFPE\CIn\Redesign logo CIn\Logotipo CIn-UFPE - Versões\CIn + UFPE\PNG\Horzontal Monocromático Branco - Logotipo CIn + UFP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523923"/>
            <a:ext cx="2078075" cy="6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5727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6188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75000" y="4755388"/>
            <a:ext cx="129745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50375" y="49151"/>
            <a:ext cx="1634600" cy="485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1E2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2406311" y="2919257"/>
            <a:ext cx="6426000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IN1007 - Paradigmas de Linguagens de Programação - 2025.2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dirty="0"/>
              <a:t>Prof. Dr. Augusto Cezar Alves Sampaio acas@cin.ufpe.br</a:t>
            </a:r>
            <a:endParaRPr i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Equipe 5: </a:t>
            </a:r>
            <a:endParaRPr b="1" dirty="0"/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Andrezza de Melo Bonfim – amb8@cin.ufpe.br</a:t>
            </a:r>
            <a:endParaRPr b="1" dirty="0"/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Athos Pugliese – amps3@cin.ufpe.br</a:t>
            </a:r>
            <a:endParaRPr b="1" dirty="0"/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Jordan </a:t>
            </a:r>
            <a:r>
              <a:rPr lang="pt-BR" b="1" dirty="0" err="1"/>
              <a:t>Kalliure</a:t>
            </a:r>
            <a:r>
              <a:rPr lang="pt-BR" b="1" dirty="0"/>
              <a:t> Souza Carvalho - jksc@cin.ufpe.br</a:t>
            </a:r>
            <a:endParaRPr b="1" dirty="0"/>
          </a:p>
        </p:txBody>
      </p:sp>
      <p:sp>
        <p:nvSpPr>
          <p:cNvPr id="60" name="Google Shape;60;p13"/>
          <p:cNvSpPr txBox="1"/>
          <p:nvPr/>
        </p:nvSpPr>
        <p:spPr>
          <a:xfrm>
            <a:off x="98900" y="3978375"/>
            <a:ext cx="297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Programa de Pós-Graduação Acadêmico em Ciência da Computação</a:t>
            </a:r>
            <a:endParaRPr sz="1200" i="1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11700" y="250225"/>
            <a:ext cx="8520600" cy="23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Projeto de PLP</a:t>
            </a:r>
            <a:endParaRPr sz="5200" b="1" dirty="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DataScript</a:t>
            </a:r>
            <a:endParaRPr sz="3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4FFA1D68-D057-17F5-C664-F7A4C3AE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BF006C37-8E51-1B2C-77C7-2662BC468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4600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Motivação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003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Motivação</a:t>
            </a:r>
            <a:endParaRPr dirty="0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57100" y="1017825"/>
            <a:ext cx="8475300" cy="3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00000"/>
              </a:lnSpc>
            </a:pPr>
            <a:r>
              <a:rPr lang="pt-BR" sz="1600" dirty="0"/>
              <a:t>Evoluir a linguagem de programação imperativa 2 para uma ferramenta com capacidade de </a:t>
            </a:r>
            <a:r>
              <a:rPr lang="pt-BR" sz="1600" b="1" dirty="0"/>
              <a:t>análise de dados, </a:t>
            </a:r>
            <a:r>
              <a:rPr lang="pt-BR" sz="1600" dirty="0"/>
              <a:t>introduzindo um conjunto de comandos para manipulação de dados, transformando a linguagem em uma ferramenta prática para análises simples.</a:t>
            </a:r>
          </a:p>
          <a:p>
            <a:pPr marL="285750" indent="-285750" algn="just">
              <a:lnSpc>
                <a:spcPct val="100000"/>
              </a:lnSpc>
            </a:pPr>
            <a:r>
              <a:rPr lang="pt-BR" sz="1600" dirty="0"/>
              <a:t>Implementar funcionalidades essenciais como:</a:t>
            </a:r>
          </a:p>
          <a:p>
            <a:pPr marL="742950" lvl="1" indent="-285750" algn="just">
              <a:lnSpc>
                <a:spcPct val="100000"/>
              </a:lnSpc>
            </a:pPr>
            <a:r>
              <a:rPr lang="pt-BR" dirty="0"/>
              <a:t>Carga de Dados: </a:t>
            </a:r>
            <a:r>
              <a:rPr lang="pt-BR" dirty="0" err="1"/>
              <a:t>load</a:t>
            </a:r>
            <a:r>
              <a:rPr lang="pt-BR" dirty="0"/>
              <a:t>("arquivo.csv")</a:t>
            </a:r>
          </a:p>
          <a:p>
            <a:pPr marL="742950" lvl="1" indent="-285750" algn="just">
              <a:lnSpc>
                <a:spcPct val="100000"/>
              </a:lnSpc>
            </a:pPr>
            <a:r>
              <a:rPr lang="pt-BR" dirty="0"/>
              <a:t>Filtragem: </a:t>
            </a:r>
            <a:r>
              <a:rPr lang="pt-BR" dirty="0" err="1"/>
              <a:t>filter</a:t>
            </a:r>
            <a:r>
              <a:rPr lang="pt-BR" dirty="0"/>
              <a:t>(</a:t>
            </a:r>
            <a:r>
              <a:rPr lang="pt-BR" dirty="0" err="1"/>
              <a:t>condicao</a:t>
            </a:r>
            <a:r>
              <a:rPr lang="pt-BR" dirty="0"/>
              <a:t>)</a:t>
            </a:r>
          </a:p>
          <a:p>
            <a:pPr marL="742950" lvl="1" indent="-285750" algn="just">
              <a:lnSpc>
                <a:spcPct val="100000"/>
              </a:lnSpc>
            </a:pPr>
            <a:r>
              <a:rPr lang="pt-BR" dirty="0"/>
              <a:t>Cálculos Estatísticos: </a:t>
            </a:r>
            <a:r>
              <a:rPr lang="pt-BR" dirty="0" err="1"/>
              <a:t>mean</a:t>
            </a:r>
            <a:r>
              <a:rPr lang="pt-BR" dirty="0"/>
              <a:t>, </a:t>
            </a:r>
            <a:r>
              <a:rPr lang="pt-BR" dirty="0" err="1"/>
              <a:t>max</a:t>
            </a:r>
            <a:r>
              <a:rPr lang="pt-BR" dirty="0"/>
              <a:t>, </a:t>
            </a:r>
            <a:r>
              <a:rPr lang="pt-BR" dirty="0" err="1"/>
              <a:t>std</a:t>
            </a:r>
            <a:r>
              <a:rPr lang="pt-BR" dirty="0"/>
              <a:t>, </a:t>
            </a:r>
            <a:r>
              <a:rPr lang="pt-BR" dirty="0" err="1"/>
              <a:t>variance</a:t>
            </a:r>
            <a:r>
              <a:rPr lang="pt-BR" dirty="0"/>
              <a:t>, etc.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FF27A4DE-F0A1-A573-1C86-B9A25C4D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56A47360-8A89-BEDD-FE8C-434BED263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4600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281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BC40607-1602-90B6-0F1D-BF214BED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4D754800-C2FB-45AC-2329-D063818898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Exemplos</a:t>
            </a:r>
            <a:endParaRPr dirty="0"/>
          </a:p>
        </p:txBody>
      </p:sp>
      <p:sp>
        <p:nvSpPr>
          <p:cNvPr id="4" name="Google Shape;110;p20">
            <a:extLst>
              <a:ext uri="{FF2B5EF4-FFF2-40B4-BE49-F238E27FC236}">
                <a16:creationId xmlns:a16="http://schemas.microsoft.com/office/drawing/2014/main" id="{69D87A53-D6DE-E45B-E0EA-DAD642AE7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7540" y="1230465"/>
            <a:ext cx="2453802" cy="34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A ideia é permitir que o usuário escreva, por exemplo: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LOAD "funcionarios.csv" AS </a:t>
            </a:r>
            <a:r>
              <a:rPr lang="pt-BR" sz="1200" dirty="0" err="1">
                <a:solidFill>
                  <a:schemeClr val="dk1"/>
                </a:solidFill>
              </a:rPr>
              <a:t>func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MEAN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media_salarial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MEDIAN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mediana_salarial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MODE </a:t>
            </a:r>
            <a:r>
              <a:rPr lang="pt-BR" sz="1200" dirty="0" err="1">
                <a:solidFill>
                  <a:schemeClr val="dk1"/>
                </a:solidFill>
              </a:rPr>
              <a:t>func.departamento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departamento_mais_comum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</p:txBody>
      </p:sp>
      <p:sp>
        <p:nvSpPr>
          <p:cNvPr id="5" name="Google Shape;110;p20">
            <a:extLst>
              <a:ext uri="{FF2B5EF4-FFF2-40B4-BE49-F238E27FC236}">
                <a16:creationId xmlns:a16="http://schemas.microsoft.com/office/drawing/2014/main" id="{F07D30DF-186B-243B-A01E-5392FE948042}"/>
              </a:ext>
            </a:extLst>
          </p:cNvPr>
          <p:cNvSpPr txBox="1">
            <a:spLocks/>
          </p:cNvSpPr>
          <p:nvPr/>
        </p:nvSpPr>
        <p:spPr>
          <a:xfrm>
            <a:off x="4076536" y="845100"/>
            <a:ext cx="5832623" cy="3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STD </a:t>
            </a:r>
            <a:r>
              <a:rPr lang="pt-BR" sz="1200" dirty="0" err="1">
                <a:solidFill>
                  <a:schemeClr val="dk1"/>
                </a:solidFill>
              </a:rPr>
              <a:t>func.idade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desvio_idade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MIN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menor_salario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MAX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maior_salario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RANGE </a:t>
            </a:r>
            <a:r>
              <a:rPr lang="pt-BR" sz="1200" dirty="0" err="1">
                <a:solidFill>
                  <a:schemeClr val="dk1"/>
                </a:solidFill>
              </a:rPr>
              <a:t>func.idade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amplitude_idades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QUARTILES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quartis_salario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COUNT </a:t>
            </a:r>
            <a:r>
              <a:rPr lang="pt-BR" sz="1200" dirty="0" err="1">
                <a:solidFill>
                  <a:schemeClr val="dk1"/>
                </a:solidFill>
              </a:rPr>
              <a:t>func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total_funcionarios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FILTER </a:t>
            </a:r>
            <a:r>
              <a:rPr lang="pt-BR" sz="1200" dirty="0" err="1">
                <a:solidFill>
                  <a:schemeClr val="dk1"/>
                </a:solidFill>
              </a:rPr>
              <a:t>func</a:t>
            </a:r>
            <a:r>
              <a:rPr lang="pt-BR" sz="1200" dirty="0">
                <a:solidFill>
                  <a:schemeClr val="dk1"/>
                </a:solidFill>
              </a:rPr>
              <a:t> WHERE idade &gt; 30 AS </a:t>
            </a:r>
            <a:r>
              <a:rPr lang="pt-BR" sz="1200" dirty="0" err="1">
                <a:solidFill>
                  <a:schemeClr val="dk1"/>
                </a:solidFill>
              </a:rPr>
              <a:t>funcionarios_seniores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MEAN </a:t>
            </a:r>
            <a:r>
              <a:rPr lang="pt-BR" sz="1200" dirty="0" err="1">
                <a:solidFill>
                  <a:schemeClr val="dk1"/>
                </a:solidFill>
              </a:rPr>
              <a:t>funcionarios_seniores.salario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media_seniores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COUNT </a:t>
            </a:r>
            <a:r>
              <a:rPr lang="pt-BR" sz="1200" dirty="0" err="1">
                <a:solidFill>
                  <a:schemeClr val="dk1"/>
                </a:solidFill>
              </a:rPr>
              <a:t>funcionarios_seniores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total_seniores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  <a:endParaRPr lang="pt-B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14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2FABDEF-30EC-0477-5032-7F4A645F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D8145BED-9028-CF02-A8DF-871A14138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4600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BNF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809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348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Mudanças na BNF da LI2	 </a:t>
            </a:r>
            <a:endParaRPr dirty="0"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551488"/>
            <a:ext cx="2873296" cy="4458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Comando ::= </a:t>
            </a:r>
            <a:r>
              <a:rPr lang="pt-BR" sz="1200" dirty="0" err="1">
                <a:solidFill>
                  <a:schemeClr val="dk1"/>
                </a:solidFill>
              </a:rPr>
              <a:t>Atribuicao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ComandoDeclaracao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While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IfThenElse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IO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Comando “;” Comando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Skip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ChamadaProcedimento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F0000"/>
                </a:solidFill>
              </a:rPr>
              <a:t>       | </a:t>
            </a:r>
            <a:r>
              <a:rPr lang="pt-BR" sz="1200" dirty="0" err="1">
                <a:solidFill>
                  <a:srgbClr val="FF0000"/>
                </a:solidFill>
              </a:rPr>
              <a:t>ComandoEstatistico</a:t>
            </a:r>
            <a:r>
              <a:rPr lang="pt-BR" sz="1200" dirty="0">
                <a:solidFill>
                  <a:srgbClr val="FF0000"/>
                </a:solidFill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err="1">
                <a:solidFill>
                  <a:schemeClr val="tx1"/>
                </a:solidFill>
              </a:rPr>
              <a:t>ValorConcreto</a:t>
            </a:r>
            <a:r>
              <a:rPr lang="pt-BR" sz="1200" dirty="0">
                <a:solidFill>
                  <a:schemeClr val="tx1"/>
                </a:solidFill>
              </a:rPr>
              <a:t> ::= </a:t>
            </a:r>
            <a:r>
              <a:rPr lang="pt-BR" sz="1200" dirty="0" err="1">
                <a:solidFill>
                  <a:schemeClr val="tx1"/>
                </a:solidFill>
              </a:rPr>
              <a:t>ValorInteiro</a:t>
            </a:r>
            <a:endParaRPr lang="pt-BR" sz="12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</a:rPr>
              <a:t>       | </a:t>
            </a:r>
            <a:r>
              <a:rPr lang="pt-BR" sz="1200" dirty="0" err="1">
                <a:solidFill>
                  <a:schemeClr val="tx1"/>
                </a:solidFill>
              </a:rPr>
              <a:t>ValorBooleano</a:t>
            </a:r>
            <a:endParaRPr lang="pt-BR" sz="12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</a:rPr>
              <a:t>       | </a:t>
            </a:r>
            <a:r>
              <a:rPr lang="pt-BR" sz="1200" dirty="0" err="1">
                <a:solidFill>
                  <a:schemeClr val="tx1"/>
                </a:solidFill>
              </a:rPr>
              <a:t>ValorString</a:t>
            </a:r>
            <a:endParaRPr lang="pt-BR" sz="12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</a:rPr>
              <a:t>       | </a:t>
            </a:r>
            <a:r>
              <a:rPr lang="pt-BR" sz="1200" dirty="0" err="1">
                <a:solidFill>
                  <a:srgbClr val="FF0000"/>
                </a:solidFill>
              </a:rPr>
              <a:t>ValorDouble</a:t>
            </a:r>
            <a:endParaRPr lang="pt-BR" sz="1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F0000"/>
                </a:solidFill>
              </a:rPr>
              <a:t>Tipo ::= </a:t>
            </a:r>
            <a:r>
              <a:rPr lang="pt-BR" sz="1200" dirty="0">
                <a:solidFill>
                  <a:schemeClr val="tx1"/>
                </a:solidFill>
              </a:rPr>
              <a:t>“</a:t>
            </a:r>
            <a:r>
              <a:rPr lang="pt-BR" sz="1200" dirty="0" err="1">
                <a:solidFill>
                  <a:schemeClr val="tx1"/>
                </a:solidFill>
              </a:rPr>
              <a:t>string</a:t>
            </a:r>
            <a:r>
              <a:rPr lang="pt-BR" sz="1200" dirty="0">
                <a:solidFill>
                  <a:schemeClr val="tx1"/>
                </a:solidFill>
              </a:rPr>
              <a:t>” | “</a:t>
            </a:r>
            <a:r>
              <a:rPr lang="pt-BR" sz="1200" dirty="0" err="1">
                <a:solidFill>
                  <a:schemeClr val="tx1"/>
                </a:solidFill>
              </a:rPr>
              <a:t>int</a:t>
            </a:r>
            <a:r>
              <a:rPr lang="pt-BR" sz="1200" dirty="0">
                <a:solidFill>
                  <a:schemeClr val="tx1"/>
                </a:solidFill>
              </a:rPr>
              <a:t>” | “</a:t>
            </a:r>
            <a:r>
              <a:rPr lang="pt-BR" sz="1200" dirty="0" err="1">
                <a:solidFill>
                  <a:schemeClr val="tx1"/>
                </a:solidFill>
              </a:rPr>
              <a:t>boolean</a:t>
            </a:r>
            <a:r>
              <a:rPr lang="pt-BR" sz="1200" dirty="0">
                <a:solidFill>
                  <a:schemeClr val="tx1"/>
                </a:solidFill>
              </a:rPr>
              <a:t>” </a:t>
            </a:r>
            <a:r>
              <a:rPr lang="pt-BR" sz="1200" dirty="0">
                <a:solidFill>
                  <a:srgbClr val="FF0000"/>
                </a:solidFill>
              </a:rPr>
              <a:t>| “</a:t>
            </a:r>
            <a:r>
              <a:rPr lang="pt-BR" sz="1200" dirty="0" err="1">
                <a:solidFill>
                  <a:srgbClr val="FF0000"/>
                </a:solidFill>
              </a:rPr>
              <a:t>double</a:t>
            </a:r>
            <a:r>
              <a:rPr lang="pt-BR" sz="1200" dirty="0">
                <a:solidFill>
                  <a:srgbClr val="FF0000"/>
                </a:solidFill>
              </a:rPr>
              <a:t>”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t-BR" sz="1200" dirty="0" err="1">
                <a:solidFill>
                  <a:srgbClr val="FF0000"/>
                </a:solidFill>
              </a:rPr>
              <a:t>StringLiteral</a:t>
            </a:r>
            <a:r>
              <a:rPr lang="pt-BR" sz="1200" dirty="0">
                <a:solidFill>
                  <a:srgbClr val="FF0000"/>
                </a:solidFill>
              </a:rPr>
              <a:t> ::= """ [^\"]* """ | "'" [^']* "'"</a:t>
            </a:r>
          </a:p>
          <a:p>
            <a:pPr marL="0" indent="0">
              <a:lnSpc>
                <a:spcPct val="115000"/>
              </a:lnSpc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rgbClr val="FF0000"/>
                </a:solidFill>
              </a:rPr>
              <a:t>Id ::= [a-</a:t>
            </a:r>
            <a:r>
              <a:rPr lang="pt-BR" sz="1200" dirty="0" err="1">
                <a:solidFill>
                  <a:srgbClr val="FF0000"/>
                </a:solidFill>
              </a:rPr>
              <a:t>zA</a:t>
            </a:r>
            <a:r>
              <a:rPr lang="pt-BR" sz="1200" dirty="0">
                <a:solidFill>
                  <a:srgbClr val="FF0000"/>
                </a:solidFill>
              </a:rPr>
              <a:t>-Z_][a-zA-Z0-9_]*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FF0000"/>
              </a:solidFill>
            </a:endParaRPr>
          </a:p>
        </p:txBody>
      </p:sp>
      <p:sp>
        <p:nvSpPr>
          <p:cNvPr id="2" name="Google Shape;110;p20">
            <a:extLst>
              <a:ext uri="{FF2B5EF4-FFF2-40B4-BE49-F238E27FC236}">
                <a16:creationId xmlns:a16="http://schemas.microsoft.com/office/drawing/2014/main" id="{8AF28D44-E7AB-9815-1D61-E0C68C7F49FB}"/>
              </a:ext>
            </a:extLst>
          </p:cNvPr>
          <p:cNvSpPr txBox="1">
            <a:spLocks/>
          </p:cNvSpPr>
          <p:nvPr/>
        </p:nvSpPr>
        <p:spPr>
          <a:xfrm>
            <a:off x="3184996" y="344916"/>
            <a:ext cx="5832623" cy="3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ComandoEstatistico</a:t>
            </a:r>
            <a:r>
              <a:rPr lang="pt-BR" sz="1200" dirty="0">
                <a:solidFill>
                  <a:srgbClr val="FF0000"/>
                </a:solidFill>
              </a:rPr>
              <a:t> ::= </a:t>
            </a:r>
            <a:r>
              <a:rPr lang="pt-BR" sz="1200" dirty="0" err="1">
                <a:solidFill>
                  <a:srgbClr val="FF0000"/>
                </a:solidFill>
              </a:rPr>
              <a:t>ComandoLoad</a:t>
            </a:r>
            <a:r>
              <a:rPr lang="pt-BR" sz="1200" dirty="0">
                <a:solidFill>
                  <a:srgbClr val="FF0000"/>
                </a:solidFill>
              </a:rPr>
              <a:t>        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>
                <a:solidFill>
                  <a:srgbClr val="FF0000"/>
                </a:solidFill>
              </a:rPr>
              <a:t>| </a:t>
            </a:r>
            <a:r>
              <a:rPr lang="pt-BR" sz="1200" dirty="0" err="1">
                <a:solidFill>
                  <a:srgbClr val="FF0000"/>
                </a:solidFill>
              </a:rPr>
              <a:t>ComandoFiltro</a:t>
            </a:r>
            <a:r>
              <a:rPr lang="pt-BR" sz="1200" dirty="0">
                <a:solidFill>
                  <a:srgbClr val="FF0000"/>
                </a:solidFill>
              </a:rPr>
              <a:t>        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>
                <a:solidFill>
                  <a:srgbClr val="FF0000"/>
                </a:solidFill>
              </a:rPr>
              <a:t>| </a:t>
            </a:r>
            <a:r>
              <a:rPr lang="pt-BR" sz="1200" dirty="0" err="1">
                <a:solidFill>
                  <a:srgbClr val="FF0000"/>
                </a:solidFill>
              </a:rPr>
              <a:t>ComandoCalculo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>
                <a:solidFill>
                  <a:srgbClr val="FF0000"/>
                </a:solidFill>
              </a:rPr>
              <a:t>| </a:t>
            </a:r>
            <a:r>
              <a:rPr lang="pt-BR" sz="1200" dirty="0" err="1">
                <a:solidFill>
                  <a:srgbClr val="FF0000"/>
                </a:solidFill>
              </a:rPr>
              <a:t>ComandoShow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>
                <a:solidFill>
                  <a:srgbClr val="FF0000"/>
                </a:solidFill>
              </a:rPr>
              <a:t>| </a:t>
            </a:r>
            <a:r>
              <a:rPr lang="pt-BR" sz="1200" dirty="0" err="1">
                <a:solidFill>
                  <a:srgbClr val="FF0000"/>
                </a:solidFill>
              </a:rPr>
              <a:t>ComandoSave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ComandoLoad</a:t>
            </a:r>
            <a:r>
              <a:rPr lang="pt-BR" sz="1200" dirty="0">
                <a:solidFill>
                  <a:srgbClr val="FF0000"/>
                </a:solidFill>
              </a:rPr>
              <a:t> ::= "LOAD" </a:t>
            </a:r>
            <a:r>
              <a:rPr lang="pt-BR" sz="1200" dirty="0" err="1">
                <a:solidFill>
                  <a:srgbClr val="FF0000"/>
                </a:solidFill>
              </a:rPr>
              <a:t>Expressao</a:t>
            </a:r>
            <a:r>
              <a:rPr lang="pt-BR" sz="1200" dirty="0">
                <a:solidFill>
                  <a:srgbClr val="FF0000"/>
                </a:solidFill>
              </a:rPr>
              <a:t> "AS" Id</a:t>
            </a:r>
          </a:p>
          <a:p>
            <a:pPr marL="0" indent="0">
              <a:lnSpc>
                <a:spcPct val="100000"/>
              </a:lnSpc>
              <a:buFont typeface="Roboto"/>
              <a:buNone/>
            </a:pPr>
            <a:br>
              <a:rPr lang="pt-BR" sz="1200" dirty="0">
                <a:solidFill>
                  <a:srgbClr val="FF0000"/>
                </a:solidFill>
              </a:rPr>
            </a:br>
            <a:r>
              <a:rPr lang="pt-BR" sz="1200" dirty="0" err="1">
                <a:solidFill>
                  <a:srgbClr val="FF0000"/>
                </a:solidFill>
              </a:rPr>
              <a:t>ComandoFiltro</a:t>
            </a:r>
            <a:r>
              <a:rPr lang="pt-BR" sz="1200" dirty="0">
                <a:solidFill>
                  <a:srgbClr val="FF0000"/>
                </a:solidFill>
              </a:rPr>
              <a:t> ::= "FILTER" Id INTO Id "WHERE" </a:t>
            </a:r>
            <a:r>
              <a:rPr lang="pt-BR" sz="1200" dirty="0" err="1">
                <a:solidFill>
                  <a:srgbClr val="FF0000"/>
                </a:solidFill>
              </a:rPr>
              <a:t>Expressao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ComandoCalculo</a:t>
            </a:r>
            <a:r>
              <a:rPr lang="pt-BR" sz="1200" dirty="0">
                <a:solidFill>
                  <a:srgbClr val="FF0000"/>
                </a:solidFill>
              </a:rPr>
              <a:t> ::= </a:t>
            </a:r>
            <a:r>
              <a:rPr lang="pt-BR" sz="1200" dirty="0" err="1">
                <a:solidFill>
                  <a:srgbClr val="FF0000"/>
                </a:solidFill>
              </a:rPr>
              <a:t>AnaliseColuna</a:t>
            </a:r>
            <a:r>
              <a:rPr lang="pt-BR" sz="1200" dirty="0">
                <a:solidFill>
                  <a:srgbClr val="FF0000"/>
                </a:solidFill>
              </a:rPr>
              <a:t> | </a:t>
            </a:r>
            <a:r>
              <a:rPr lang="pt-BR" sz="1200" dirty="0" err="1">
                <a:solidFill>
                  <a:srgbClr val="FF0000"/>
                </a:solidFill>
              </a:rPr>
              <a:t>ContagemTabela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200" dirty="0">
                <a:solidFill>
                  <a:srgbClr val="FF0000"/>
                </a:solidFill>
              </a:rPr>
              <a:t>Comando Show ::= </a:t>
            </a:r>
            <a:r>
              <a:rPr lang="en-US" sz="1200" dirty="0">
                <a:solidFill>
                  <a:srgbClr val="FF0000"/>
                </a:solidFill>
              </a:rPr>
              <a:t>"SHOW" </a:t>
            </a:r>
            <a:r>
              <a:rPr lang="en-US" sz="1200" dirty="0" err="1">
                <a:solidFill>
                  <a:srgbClr val="FF0000"/>
                </a:solidFill>
              </a:rPr>
              <a:t>Expressao</a:t>
            </a:r>
            <a:r>
              <a:rPr lang="en-US" sz="1200" dirty="0">
                <a:solidFill>
                  <a:srgbClr val="FF0000"/>
                </a:solidFill>
              </a:rPr>
              <a:t>    | "SHOW" </a:t>
            </a:r>
            <a:r>
              <a:rPr lang="en-US" sz="1200" dirty="0" err="1">
                <a:solidFill>
                  <a:srgbClr val="FF0000"/>
                </a:solidFill>
              </a:rPr>
              <a:t>OpEstatistica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pt-BR" sz="1200" dirty="0" err="1">
                <a:solidFill>
                  <a:srgbClr val="FF0000"/>
                </a:solidFill>
              </a:rPr>
              <a:t>ReferenciaColuna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ComandoSave</a:t>
            </a:r>
            <a:r>
              <a:rPr lang="pt-BR" sz="1200" dirty="0">
                <a:solidFill>
                  <a:srgbClr val="FF0000"/>
                </a:solidFill>
              </a:rPr>
              <a:t> ::= "SAVE" </a:t>
            </a:r>
            <a:r>
              <a:rPr lang="pt-BR" sz="1200" dirty="0" err="1">
                <a:solidFill>
                  <a:srgbClr val="FF0000"/>
                </a:solidFill>
              </a:rPr>
              <a:t>Expressao</a:t>
            </a:r>
            <a:r>
              <a:rPr lang="pt-BR" sz="1200" dirty="0">
                <a:solidFill>
                  <a:srgbClr val="FF0000"/>
                </a:solidFill>
              </a:rPr>
              <a:t> "AS" </a:t>
            </a:r>
            <a:r>
              <a:rPr lang="pt-BR" sz="1200" dirty="0" err="1">
                <a:solidFill>
                  <a:srgbClr val="FF0000"/>
                </a:solidFill>
              </a:rPr>
              <a:t>Expressao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200" dirty="0" err="1">
                <a:solidFill>
                  <a:srgbClr val="FF0000"/>
                </a:solidFill>
              </a:rPr>
              <a:t>AnaliseColuna</a:t>
            </a:r>
            <a:r>
              <a:rPr lang="pt-BR" sz="1200" dirty="0">
                <a:solidFill>
                  <a:srgbClr val="FF0000"/>
                </a:solidFill>
              </a:rPr>
              <a:t> ::= </a:t>
            </a:r>
            <a:r>
              <a:rPr lang="pt-BR" sz="1200" dirty="0" err="1">
                <a:solidFill>
                  <a:srgbClr val="FF0000"/>
                </a:solidFill>
              </a:rPr>
              <a:t>OpEstatistica</a:t>
            </a:r>
            <a:r>
              <a:rPr lang="pt-BR" sz="1200" dirty="0">
                <a:solidFill>
                  <a:srgbClr val="FF0000"/>
                </a:solidFill>
              </a:rPr>
              <a:t> </a:t>
            </a:r>
            <a:r>
              <a:rPr lang="pt-BR" sz="1200" dirty="0" err="1">
                <a:solidFill>
                  <a:srgbClr val="FF0000"/>
                </a:solidFill>
              </a:rPr>
              <a:t>ReferenciaColuna</a:t>
            </a:r>
            <a:r>
              <a:rPr lang="pt-BR" sz="1200" dirty="0">
                <a:solidFill>
                  <a:srgbClr val="FF0000"/>
                </a:solidFill>
              </a:rPr>
              <a:t> "AS" Id</a:t>
            </a: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ContagemTabela</a:t>
            </a:r>
            <a:r>
              <a:rPr lang="pt-BR" sz="1200" dirty="0">
                <a:solidFill>
                  <a:srgbClr val="FF0000"/>
                </a:solidFill>
              </a:rPr>
              <a:t> ::= "COUNT" Id "AS" Id</a:t>
            </a: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ReferenciaColuna</a:t>
            </a:r>
            <a:r>
              <a:rPr lang="pt-BR" sz="1200" dirty="0">
                <a:solidFill>
                  <a:srgbClr val="FF0000"/>
                </a:solidFill>
              </a:rPr>
              <a:t> ::= </a:t>
            </a:r>
            <a:r>
              <a:rPr lang="pt-BR" sz="1200" dirty="0" err="1">
                <a:solidFill>
                  <a:srgbClr val="FF0000"/>
                </a:solidFill>
              </a:rPr>
              <a:t>Expressao</a:t>
            </a:r>
            <a:r>
              <a:rPr lang="pt-BR" sz="1200" dirty="0">
                <a:solidFill>
                  <a:srgbClr val="FF0000"/>
                </a:solidFill>
              </a:rPr>
              <a:t> "." Id</a:t>
            </a: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OpEstatistica</a:t>
            </a:r>
            <a:r>
              <a:rPr lang="pt-BR" sz="1200" dirty="0">
                <a:solidFill>
                  <a:srgbClr val="FF0000"/>
                </a:solidFill>
              </a:rPr>
              <a:t> ::= "MEAN" | "MEDIAN" | "MODE" | "STD" | “VAR” | "MIN" | "MAX" | "RANGE" | "QUARTILES“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6F1BEA9-CF71-C2AF-27EC-2C1E2DEC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97A09B8A-E27D-6C73-475A-C5A0BDF68F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4600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75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A4884FA-C8FE-8F74-77F0-642AA4E6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702D1715-B000-20D7-F4C1-4B6B6AE810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0750"/>
            <a:ext cx="8520600" cy="7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940E65-9D38-A0AC-DF7C-9A9C702FB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12" y="738615"/>
            <a:ext cx="7315200" cy="399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BC666936-60CF-99F6-9687-DC3E9C818194}"/>
              </a:ext>
            </a:extLst>
          </p:cNvPr>
          <p:cNvSpPr/>
          <p:nvPr/>
        </p:nvSpPr>
        <p:spPr>
          <a:xfrm>
            <a:off x="3969833" y="3957371"/>
            <a:ext cx="1144859" cy="735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7CD7321-A066-2F53-0A7F-4CDAA19BDE24}"/>
              </a:ext>
            </a:extLst>
          </p:cNvPr>
          <p:cNvSpPr/>
          <p:nvPr/>
        </p:nvSpPr>
        <p:spPr>
          <a:xfrm>
            <a:off x="5902713" y="1665249"/>
            <a:ext cx="2245111" cy="19849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331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189C25A8-CAC6-E113-1826-24EDF119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E57A1A70-4B3D-9017-02E3-03D1BBD63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0750"/>
            <a:ext cx="8520600" cy="7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</a:t>
            </a:r>
            <a:endParaRPr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D9C243C-F22E-C76E-4CB5-640E268835D2}"/>
              </a:ext>
            </a:extLst>
          </p:cNvPr>
          <p:cNvSpPr/>
          <p:nvPr/>
        </p:nvSpPr>
        <p:spPr>
          <a:xfrm>
            <a:off x="5902713" y="1665249"/>
            <a:ext cx="2245111" cy="19849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464F45-3B5E-63DE-8EB6-811B81D5B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3025"/>
            <a:ext cx="91440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ADC50854-B32E-9DB1-EF21-A9AB04C40E7B}"/>
              </a:ext>
            </a:extLst>
          </p:cNvPr>
          <p:cNvSpPr/>
          <p:nvPr/>
        </p:nvSpPr>
        <p:spPr>
          <a:xfrm>
            <a:off x="1" y="3383280"/>
            <a:ext cx="4714239" cy="528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C5E6665C-0EFB-FAE1-F997-A7CFF5EC04AE}"/>
              </a:ext>
            </a:extLst>
          </p:cNvPr>
          <p:cNvSpPr/>
          <p:nvPr/>
        </p:nvSpPr>
        <p:spPr>
          <a:xfrm>
            <a:off x="1467997" y="2672445"/>
            <a:ext cx="1483360" cy="5997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690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2520E77-18AD-6186-FBA0-954844DC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E6F14156-F54E-F937-A100-958F3355F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3800"/>
            <a:ext cx="9144000" cy="275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EDD8D9FF-AA94-5B2F-581A-A0186E10F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0750"/>
            <a:ext cx="8520600" cy="7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574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A6801A0-FBF7-DD21-B396-44FFB2699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BAF0DB8B-A58A-9D48-C49F-322A1A381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60750"/>
            <a:ext cx="8520600" cy="7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Implementação</a:t>
            </a:r>
            <a:endParaRPr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567D548-5CFC-B015-3A74-B7ED81FC2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3225"/>
            <a:ext cx="9144000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879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9C5A016-6C8B-C1C8-059A-F4201030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FAB048ED-E9AD-C51F-7708-44588A12D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4600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Testes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1298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1E2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/>
        </p:nvSpPr>
        <p:spPr>
          <a:xfrm>
            <a:off x="98900" y="3978375"/>
            <a:ext cx="297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Programa de Pós-Graduação Acadêmico em Ciência da Computação</a:t>
            </a:r>
            <a:endParaRPr sz="1200" i="1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311700" y="0"/>
            <a:ext cx="85206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Obrigado!</a:t>
            </a:r>
            <a:endParaRPr sz="3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6148</TotalTime>
  <Words>1958</Words>
  <Application>Microsoft Office PowerPoint</Application>
  <PresentationFormat>Apresentação na tela (16:9)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Roboto</vt:lpstr>
      <vt:lpstr>Calibri</vt:lpstr>
      <vt:lpstr>Roboto Light</vt:lpstr>
      <vt:lpstr>Arial</vt:lpstr>
      <vt:lpstr>Roboto Medium</vt:lpstr>
      <vt:lpstr>Simple Light</vt:lpstr>
      <vt:lpstr>Apresentação do PowerPoint</vt:lpstr>
      <vt:lpstr>Motivação</vt:lpstr>
      <vt:lpstr>Motivação</vt:lpstr>
      <vt:lpstr>Exemplos</vt:lpstr>
      <vt:lpstr>Exemplos</vt:lpstr>
      <vt:lpstr>BNF</vt:lpstr>
      <vt:lpstr>Mudanças na BNF da LI2  </vt:lpstr>
      <vt:lpstr>Implementação</vt:lpstr>
      <vt:lpstr>Implementação</vt:lpstr>
      <vt:lpstr>Implementação</vt:lpstr>
      <vt:lpstr>Implementação</vt:lpstr>
      <vt:lpstr>Implementação</vt:lpstr>
      <vt:lpstr>Testes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Andrezza Bonfim</dc:creator>
  <cp:lastModifiedBy>Andrezza Bonfim</cp:lastModifiedBy>
  <cp:revision>8</cp:revision>
  <dcterms:modified xsi:type="dcterms:W3CDTF">2025-11-17T23:48:02Z</dcterms:modified>
</cp:coreProperties>
</file>