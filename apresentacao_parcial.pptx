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69" r:id="rId4"/>
    <p:sldId id="263" r:id="rId5"/>
    <p:sldId id="268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  <p:embeddedFont>
      <p:font typeface="Roboto Light" panose="02000000000000000000" pitchFamily="2" charset="0"/>
      <p:regular r:id="rId12"/>
      <p:bold r:id="rId13"/>
      <p:italic r:id="rId14"/>
      <p:boldItalic r:id="rId15"/>
    </p:embeddedFont>
    <p:embeddedFont>
      <p:font typeface="Roboto Medium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758" y="534"/>
      </p:cViewPr>
      <p:guideLst>
        <p:guide orient="horz" pos="1620"/>
        <p:guide pos="2880"/>
        <p:guide orient="horz" pos="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d33b2d921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d33b2d921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923f4d673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923f4d673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94AF1D5-FB33-6036-C542-65D56C24A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923f4d673_1_14:notes">
            <a:extLst>
              <a:ext uri="{FF2B5EF4-FFF2-40B4-BE49-F238E27FC236}">
                <a16:creationId xmlns:a16="http://schemas.microsoft.com/office/drawing/2014/main" id="{4BCAEAE7-1ECF-9BF4-6AD7-C5FE441A4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923f4d673_1_14:notes">
            <a:extLst>
              <a:ext uri="{FF2B5EF4-FFF2-40B4-BE49-F238E27FC236}">
                <a16:creationId xmlns:a16="http://schemas.microsoft.com/office/drawing/2014/main" id="{F5165162-1F1C-C4C4-89CE-FDD44C8F6B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8164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23f4d673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923f4d673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33989f04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33989f04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1E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4619400" cy="13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6" name="Google Shape;16;p2" descr="E:\05.03.18 bkp\Documentos\João Victor\UFPE\CIn\Redesign logo CIn\Logotipo CIn-UFPE - Versões\CIn + UFPE\PNG\Horzontal Monocromático Branco - Logotipo CIn + UFP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4523923"/>
            <a:ext cx="2078075" cy="6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0019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5727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26188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75000" y="4755388"/>
            <a:ext cx="1297456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50375" y="49151"/>
            <a:ext cx="1634600" cy="4854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1E2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2406311" y="2919257"/>
            <a:ext cx="6426000" cy="12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IN1007 - Paradigmas de Linguagens de Programação - 2025.2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i="1" dirty="0"/>
              <a:t>Prof. Dr. Augusto Cezar Alves Sampaio acas@cin.ufpe.br</a:t>
            </a:r>
            <a:endParaRPr i="1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Equipe 5: </a:t>
            </a:r>
            <a:endParaRPr b="1" dirty="0"/>
          </a:p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Andrezza de Melo Bonfim – amb8@cin.ufpe.br</a:t>
            </a:r>
            <a:endParaRPr b="1" dirty="0"/>
          </a:p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Athos Pugliese – amps3@cin.ufpe.br</a:t>
            </a:r>
            <a:endParaRPr b="1" dirty="0"/>
          </a:p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Jordan </a:t>
            </a:r>
            <a:r>
              <a:rPr lang="pt-BR" b="1" dirty="0" err="1"/>
              <a:t>Kalliure</a:t>
            </a:r>
            <a:r>
              <a:rPr lang="pt-BR" b="1" dirty="0"/>
              <a:t> Souza Carvalho - jksc@cin.ufpe.br</a:t>
            </a:r>
            <a:endParaRPr b="1" dirty="0"/>
          </a:p>
        </p:txBody>
      </p:sp>
      <p:sp>
        <p:nvSpPr>
          <p:cNvPr id="60" name="Google Shape;60;p13"/>
          <p:cNvSpPr txBox="1"/>
          <p:nvPr/>
        </p:nvSpPr>
        <p:spPr>
          <a:xfrm>
            <a:off x="98900" y="3978375"/>
            <a:ext cx="297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i="1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Programa de Pós-Graduação Acadêmico em Ciência da Computação</a:t>
            </a:r>
            <a:endParaRPr sz="1200" i="1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11700" y="250225"/>
            <a:ext cx="8520600" cy="23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 b="1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Projeto de PLP</a:t>
            </a:r>
            <a:endParaRPr sz="5200" b="1" dirty="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DataScript</a:t>
            </a:r>
            <a:endParaRPr sz="30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Visão Geral</a:t>
            </a:r>
            <a:endParaRPr dirty="0"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57100" y="1017825"/>
            <a:ext cx="8475300" cy="3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lnSpc>
                <a:spcPct val="100000"/>
              </a:lnSpc>
            </a:pPr>
            <a:r>
              <a:rPr lang="pt-BR" sz="1600" dirty="0"/>
              <a:t>Evoluir a linguagem de programação imperativa 2 para uma ferramenta com capacidades de </a:t>
            </a:r>
            <a:r>
              <a:rPr lang="pt-BR" sz="1600" b="1" dirty="0"/>
              <a:t>análise de dados</a:t>
            </a:r>
            <a:r>
              <a:rPr lang="pt-BR" sz="1600" dirty="0"/>
              <a:t>.</a:t>
            </a:r>
          </a:p>
          <a:p>
            <a:pPr marL="285750" indent="-285750" algn="just">
              <a:lnSpc>
                <a:spcPct val="100000"/>
              </a:lnSpc>
            </a:pPr>
            <a:r>
              <a:rPr lang="pt-BR" sz="1600" dirty="0"/>
              <a:t>Introduzir um conjunto de comandos para manipulação de dados, transformando a linguagem em uma ferramenta prática para análises simples.</a:t>
            </a:r>
          </a:p>
          <a:p>
            <a:pPr marL="285750" indent="-285750" algn="just">
              <a:lnSpc>
                <a:spcPct val="100000"/>
              </a:lnSpc>
            </a:pPr>
            <a:r>
              <a:rPr lang="pt-BR" sz="1600" dirty="0"/>
              <a:t>Implementar funcionalidades essenciais como:</a:t>
            </a:r>
          </a:p>
          <a:p>
            <a:pPr marL="742950" lvl="1" indent="-285750" algn="just">
              <a:lnSpc>
                <a:spcPct val="100000"/>
              </a:lnSpc>
            </a:pPr>
            <a:r>
              <a:rPr lang="pt-BR" dirty="0"/>
              <a:t>Carga de Dados: </a:t>
            </a:r>
            <a:r>
              <a:rPr lang="pt-BR" dirty="0" err="1"/>
              <a:t>load</a:t>
            </a:r>
            <a:r>
              <a:rPr lang="pt-BR" dirty="0"/>
              <a:t>("arquivo.csv")</a:t>
            </a:r>
          </a:p>
          <a:p>
            <a:pPr marL="742950" lvl="1" indent="-285750" algn="just">
              <a:lnSpc>
                <a:spcPct val="100000"/>
              </a:lnSpc>
            </a:pPr>
            <a:r>
              <a:rPr lang="pt-BR" dirty="0"/>
              <a:t>Filtragem: </a:t>
            </a:r>
            <a:r>
              <a:rPr lang="pt-BR" dirty="0" err="1"/>
              <a:t>filter</a:t>
            </a:r>
            <a:r>
              <a:rPr lang="pt-BR" dirty="0"/>
              <a:t>(</a:t>
            </a:r>
            <a:r>
              <a:rPr lang="pt-BR" dirty="0" err="1"/>
              <a:t>condicao</a:t>
            </a:r>
            <a:r>
              <a:rPr lang="pt-BR" dirty="0"/>
              <a:t>)</a:t>
            </a:r>
          </a:p>
          <a:p>
            <a:pPr marL="742950" lvl="1" indent="-285750" algn="just">
              <a:lnSpc>
                <a:spcPct val="100000"/>
              </a:lnSpc>
            </a:pPr>
            <a:r>
              <a:rPr lang="pt-BR" dirty="0"/>
              <a:t>Cálculos Estatísticos: </a:t>
            </a:r>
            <a:r>
              <a:rPr lang="pt-BR" dirty="0" err="1"/>
              <a:t>mean</a:t>
            </a:r>
            <a:r>
              <a:rPr lang="pt-BR" dirty="0"/>
              <a:t>, </a:t>
            </a:r>
            <a:r>
              <a:rPr lang="pt-BR" dirty="0" err="1"/>
              <a:t>max</a:t>
            </a:r>
            <a:r>
              <a:rPr lang="pt-BR" dirty="0"/>
              <a:t>, </a:t>
            </a:r>
            <a:r>
              <a:rPr lang="pt-BR" dirty="0" err="1"/>
              <a:t>std</a:t>
            </a:r>
            <a:r>
              <a:rPr lang="pt-BR" dirty="0"/>
              <a:t>, </a:t>
            </a:r>
            <a:r>
              <a:rPr lang="pt-BR" dirty="0" err="1"/>
              <a:t>variance</a:t>
            </a:r>
            <a:r>
              <a:rPr lang="pt-BR" dirty="0"/>
              <a:t>, etc.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7BC40607-1602-90B6-0F1D-BF214BED1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4D754800-C2FB-45AC-2329-D063818898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Visão Geral</a:t>
            </a:r>
            <a:endParaRPr dirty="0"/>
          </a:p>
        </p:txBody>
      </p:sp>
      <p:sp>
        <p:nvSpPr>
          <p:cNvPr id="4" name="Google Shape;110;p20">
            <a:extLst>
              <a:ext uri="{FF2B5EF4-FFF2-40B4-BE49-F238E27FC236}">
                <a16:creationId xmlns:a16="http://schemas.microsoft.com/office/drawing/2014/main" id="{69D87A53-D6DE-E45B-E0EA-DAD642AE7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7540" y="1230465"/>
            <a:ext cx="2453802" cy="34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A ideia é permitir que o usuário escreva, por exemplo: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LOAD "funcionarios.csv" AS </a:t>
            </a:r>
            <a:r>
              <a:rPr lang="pt-BR" sz="1200" dirty="0" err="1">
                <a:solidFill>
                  <a:schemeClr val="dk1"/>
                </a:solidFill>
              </a:rPr>
              <a:t>func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MEAN </a:t>
            </a:r>
            <a:r>
              <a:rPr lang="pt-BR" sz="1200" dirty="0" err="1">
                <a:solidFill>
                  <a:schemeClr val="dk1"/>
                </a:solidFill>
              </a:rPr>
              <a:t>func.salario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media_salarial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MEDIAN </a:t>
            </a:r>
            <a:r>
              <a:rPr lang="pt-BR" sz="1200" dirty="0" err="1">
                <a:solidFill>
                  <a:schemeClr val="dk1"/>
                </a:solidFill>
              </a:rPr>
              <a:t>func.salario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mediana_salarial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MODE </a:t>
            </a:r>
            <a:r>
              <a:rPr lang="pt-BR" sz="1200" dirty="0" err="1">
                <a:solidFill>
                  <a:schemeClr val="dk1"/>
                </a:solidFill>
              </a:rPr>
              <a:t>func.departamento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departamento_mais_comum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chemeClr val="dk1"/>
              </a:solidFill>
            </a:endParaRPr>
          </a:p>
        </p:txBody>
      </p:sp>
      <p:sp>
        <p:nvSpPr>
          <p:cNvPr id="5" name="Google Shape;110;p20">
            <a:extLst>
              <a:ext uri="{FF2B5EF4-FFF2-40B4-BE49-F238E27FC236}">
                <a16:creationId xmlns:a16="http://schemas.microsoft.com/office/drawing/2014/main" id="{F07D30DF-186B-243B-A01E-5392FE948042}"/>
              </a:ext>
            </a:extLst>
          </p:cNvPr>
          <p:cNvSpPr txBox="1">
            <a:spLocks/>
          </p:cNvSpPr>
          <p:nvPr/>
        </p:nvSpPr>
        <p:spPr>
          <a:xfrm>
            <a:off x="4076536" y="845100"/>
            <a:ext cx="5832623" cy="3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STD </a:t>
            </a:r>
            <a:r>
              <a:rPr lang="pt-BR" sz="1200" dirty="0" err="1">
                <a:solidFill>
                  <a:schemeClr val="dk1"/>
                </a:solidFill>
              </a:rPr>
              <a:t>func.idade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desvio_idade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MIN </a:t>
            </a:r>
            <a:r>
              <a:rPr lang="pt-BR" sz="1200" dirty="0" err="1">
                <a:solidFill>
                  <a:schemeClr val="dk1"/>
                </a:solidFill>
              </a:rPr>
              <a:t>func.salario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menor_salario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MAX </a:t>
            </a:r>
            <a:r>
              <a:rPr lang="pt-BR" sz="1200" dirty="0" err="1">
                <a:solidFill>
                  <a:schemeClr val="dk1"/>
                </a:solidFill>
              </a:rPr>
              <a:t>func.salario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maior_salario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RANGE </a:t>
            </a:r>
            <a:r>
              <a:rPr lang="pt-BR" sz="1200" dirty="0" err="1">
                <a:solidFill>
                  <a:schemeClr val="dk1"/>
                </a:solidFill>
              </a:rPr>
              <a:t>func.idade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amplitude_idades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QUARTILES </a:t>
            </a:r>
            <a:r>
              <a:rPr lang="pt-BR" sz="1200" dirty="0" err="1">
                <a:solidFill>
                  <a:schemeClr val="dk1"/>
                </a:solidFill>
              </a:rPr>
              <a:t>func.salario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quartis_salario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COUNT </a:t>
            </a:r>
            <a:r>
              <a:rPr lang="pt-BR" sz="1200" dirty="0" err="1">
                <a:solidFill>
                  <a:schemeClr val="dk1"/>
                </a:solidFill>
              </a:rPr>
              <a:t>func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total_funcionarios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FILTER </a:t>
            </a:r>
            <a:r>
              <a:rPr lang="pt-BR" sz="1200" dirty="0" err="1">
                <a:solidFill>
                  <a:schemeClr val="dk1"/>
                </a:solidFill>
              </a:rPr>
              <a:t>func</a:t>
            </a:r>
            <a:r>
              <a:rPr lang="pt-BR" sz="1200" dirty="0">
                <a:solidFill>
                  <a:schemeClr val="dk1"/>
                </a:solidFill>
              </a:rPr>
              <a:t> WHERE idade &gt; 30 AS </a:t>
            </a:r>
            <a:r>
              <a:rPr lang="pt-BR" sz="1200" dirty="0" err="1">
                <a:solidFill>
                  <a:schemeClr val="dk1"/>
                </a:solidFill>
              </a:rPr>
              <a:t>funcionarios_seniores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MEAN </a:t>
            </a:r>
            <a:r>
              <a:rPr lang="pt-BR" sz="1200" dirty="0" err="1">
                <a:solidFill>
                  <a:schemeClr val="dk1"/>
                </a:solidFill>
              </a:rPr>
              <a:t>funcionarios_seniores.salario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media_seniores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</a:p>
          <a:p>
            <a:pPr marL="0" lvl="0" indent="0">
              <a:lnSpc>
                <a:spcPct val="115000"/>
              </a:lnSpc>
              <a:buNone/>
            </a:pPr>
            <a:endParaRPr lang="pt-BR" sz="1200" dirty="0">
              <a:solidFill>
                <a:schemeClr val="dk1"/>
              </a:solidFill>
            </a:endParaRPr>
          </a:p>
          <a:p>
            <a:pPr marL="0" lv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chemeClr val="dk1"/>
                </a:solidFill>
              </a:rPr>
              <a:t>COUNT </a:t>
            </a:r>
            <a:r>
              <a:rPr lang="pt-BR" sz="1200" dirty="0" err="1">
                <a:solidFill>
                  <a:schemeClr val="dk1"/>
                </a:solidFill>
              </a:rPr>
              <a:t>funcionarios_seniores</a:t>
            </a:r>
            <a:r>
              <a:rPr lang="pt-BR" sz="1200" dirty="0">
                <a:solidFill>
                  <a:schemeClr val="dk1"/>
                </a:solidFill>
              </a:rPr>
              <a:t> AS </a:t>
            </a:r>
            <a:r>
              <a:rPr lang="pt-BR" sz="1200" dirty="0" err="1">
                <a:solidFill>
                  <a:schemeClr val="dk1"/>
                </a:solidFill>
              </a:rPr>
              <a:t>total_seniores</a:t>
            </a:r>
            <a:r>
              <a:rPr lang="pt-BR" sz="1200" dirty="0">
                <a:solidFill>
                  <a:schemeClr val="dk1"/>
                </a:solidFill>
              </a:rPr>
              <a:t>;</a:t>
            </a:r>
            <a:endParaRPr lang="pt-BR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143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311700" y="160750"/>
            <a:ext cx="8520600" cy="7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Mudanças na BNF da LI2	 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311700" y="822195"/>
            <a:ext cx="2453802" cy="34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Comando ::= </a:t>
            </a:r>
            <a:r>
              <a:rPr lang="pt-BR" sz="1200" dirty="0" err="1">
                <a:solidFill>
                  <a:schemeClr val="dk1"/>
                </a:solidFill>
              </a:rPr>
              <a:t>Atribuicao</a:t>
            </a: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</a:t>
            </a:r>
            <a:r>
              <a:rPr lang="pt-BR" sz="1200" dirty="0" err="1">
                <a:solidFill>
                  <a:schemeClr val="dk1"/>
                </a:solidFill>
              </a:rPr>
              <a:t>ComandoDeclaracao</a:t>
            </a: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</a:t>
            </a:r>
            <a:r>
              <a:rPr lang="pt-BR" sz="1200" dirty="0" err="1">
                <a:solidFill>
                  <a:schemeClr val="dk1"/>
                </a:solidFill>
              </a:rPr>
              <a:t>While</a:t>
            </a: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</a:t>
            </a:r>
            <a:r>
              <a:rPr lang="pt-BR" sz="1200" dirty="0" err="1">
                <a:solidFill>
                  <a:schemeClr val="dk1"/>
                </a:solidFill>
              </a:rPr>
              <a:t>IfThenElse</a:t>
            </a: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IO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Comando “;” Comando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</a:t>
            </a:r>
            <a:r>
              <a:rPr lang="pt-BR" sz="1200" dirty="0" err="1">
                <a:solidFill>
                  <a:schemeClr val="dk1"/>
                </a:solidFill>
              </a:rPr>
              <a:t>Skip</a:t>
            </a: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</a:rPr>
              <a:t>       | </a:t>
            </a:r>
            <a:r>
              <a:rPr lang="pt-BR" sz="1200" dirty="0" err="1">
                <a:solidFill>
                  <a:schemeClr val="dk1"/>
                </a:solidFill>
              </a:rPr>
              <a:t>ChamadaProcedimento</a:t>
            </a:r>
            <a:endParaRPr lang="pt-BR"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FF0000"/>
                </a:solidFill>
              </a:rPr>
              <a:t>       | </a:t>
            </a:r>
            <a:r>
              <a:rPr lang="pt-BR" sz="1200" dirty="0" err="1">
                <a:solidFill>
                  <a:srgbClr val="FF0000"/>
                </a:solidFill>
              </a:rPr>
              <a:t>ComandoEstatistico</a:t>
            </a:r>
            <a:r>
              <a:rPr lang="pt-BR" sz="1200" dirty="0">
                <a:solidFill>
                  <a:srgbClr val="FF0000"/>
                </a:solidFill>
              </a:rPr>
              <a:t>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 err="1">
                <a:solidFill>
                  <a:schemeClr val="tx1"/>
                </a:solidFill>
              </a:rPr>
              <a:t>ValorConcreto</a:t>
            </a:r>
            <a:r>
              <a:rPr lang="pt-BR" sz="1200" dirty="0">
                <a:solidFill>
                  <a:schemeClr val="tx1"/>
                </a:solidFill>
              </a:rPr>
              <a:t> ::= </a:t>
            </a:r>
            <a:r>
              <a:rPr lang="pt-BR" sz="1200" dirty="0" err="1">
                <a:solidFill>
                  <a:schemeClr val="tx1"/>
                </a:solidFill>
              </a:rPr>
              <a:t>ValorInteiro</a:t>
            </a:r>
            <a:endParaRPr lang="pt-BR" sz="12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</a:rPr>
              <a:t>       | </a:t>
            </a:r>
            <a:r>
              <a:rPr lang="pt-BR" sz="1200" dirty="0" err="1">
                <a:solidFill>
                  <a:schemeClr val="tx1"/>
                </a:solidFill>
              </a:rPr>
              <a:t>ValorBooleano</a:t>
            </a:r>
            <a:endParaRPr lang="pt-BR" sz="12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</a:rPr>
              <a:t>       | </a:t>
            </a:r>
            <a:r>
              <a:rPr lang="pt-BR" sz="1200" dirty="0" err="1">
                <a:solidFill>
                  <a:schemeClr val="tx1"/>
                </a:solidFill>
              </a:rPr>
              <a:t>ValorString</a:t>
            </a:r>
            <a:endParaRPr lang="pt-BR" sz="12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</a:rPr>
              <a:t>       | </a:t>
            </a:r>
            <a:r>
              <a:rPr lang="pt-BR" sz="1200" dirty="0" err="1">
                <a:solidFill>
                  <a:srgbClr val="FF0000"/>
                </a:solidFill>
              </a:rPr>
              <a:t>ValorDouble</a:t>
            </a:r>
            <a:endParaRPr lang="pt-BR" sz="12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pt-BR" sz="1200" dirty="0" err="1">
                <a:solidFill>
                  <a:srgbClr val="FF0000"/>
                </a:solidFill>
              </a:rPr>
              <a:t>StringLiteral</a:t>
            </a:r>
            <a:r>
              <a:rPr lang="pt-BR" sz="1200" dirty="0">
                <a:solidFill>
                  <a:srgbClr val="FF0000"/>
                </a:solidFill>
              </a:rPr>
              <a:t> ::= """ [^\"]* """ | "'" [^']* "'"</a:t>
            </a:r>
          </a:p>
          <a:p>
            <a:pPr marL="0" indent="0">
              <a:lnSpc>
                <a:spcPct val="115000"/>
              </a:lnSpc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rgbClr val="FF0000"/>
                </a:solidFill>
              </a:rPr>
              <a:t>Id ::= [a-</a:t>
            </a:r>
            <a:r>
              <a:rPr lang="pt-BR" sz="1200" dirty="0" err="1">
                <a:solidFill>
                  <a:srgbClr val="FF0000"/>
                </a:solidFill>
              </a:rPr>
              <a:t>zA</a:t>
            </a:r>
            <a:r>
              <a:rPr lang="pt-BR" sz="1200" dirty="0">
                <a:solidFill>
                  <a:srgbClr val="FF0000"/>
                </a:solidFill>
              </a:rPr>
              <a:t>-Z_][a-zA-Z0-9_]*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rgbClr val="FF0000"/>
              </a:solidFill>
            </a:endParaRPr>
          </a:p>
        </p:txBody>
      </p:sp>
      <p:sp>
        <p:nvSpPr>
          <p:cNvPr id="2" name="Google Shape;110;p20">
            <a:extLst>
              <a:ext uri="{FF2B5EF4-FFF2-40B4-BE49-F238E27FC236}">
                <a16:creationId xmlns:a16="http://schemas.microsoft.com/office/drawing/2014/main" id="{8AF28D44-E7AB-9815-1D61-E0C68C7F49FB}"/>
              </a:ext>
            </a:extLst>
          </p:cNvPr>
          <p:cNvSpPr txBox="1">
            <a:spLocks/>
          </p:cNvSpPr>
          <p:nvPr/>
        </p:nvSpPr>
        <p:spPr>
          <a:xfrm>
            <a:off x="3184996" y="845100"/>
            <a:ext cx="5832623" cy="3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ComandoEstatistico</a:t>
            </a:r>
            <a:r>
              <a:rPr lang="pt-BR" sz="1200" dirty="0">
                <a:solidFill>
                  <a:srgbClr val="FF0000"/>
                </a:solidFill>
              </a:rPr>
              <a:t> ::= </a:t>
            </a:r>
            <a:r>
              <a:rPr lang="pt-BR" sz="1200" dirty="0" err="1">
                <a:solidFill>
                  <a:srgbClr val="FF0000"/>
                </a:solidFill>
              </a:rPr>
              <a:t>ComandoLoad</a:t>
            </a:r>
            <a:r>
              <a:rPr lang="pt-BR" sz="1200" dirty="0">
                <a:solidFill>
                  <a:srgbClr val="FF0000"/>
                </a:solidFill>
              </a:rPr>
              <a:t>        </a:t>
            </a:r>
          </a:p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>
                <a:solidFill>
                  <a:srgbClr val="FF0000"/>
                </a:solidFill>
              </a:rPr>
              <a:t>| </a:t>
            </a:r>
            <a:r>
              <a:rPr lang="pt-BR" sz="1200" dirty="0" err="1">
                <a:solidFill>
                  <a:srgbClr val="FF0000"/>
                </a:solidFill>
              </a:rPr>
              <a:t>ComandoFiltro</a:t>
            </a:r>
            <a:r>
              <a:rPr lang="pt-BR" sz="1200" dirty="0">
                <a:solidFill>
                  <a:srgbClr val="FF0000"/>
                </a:solidFill>
              </a:rPr>
              <a:t>        </a:t>
            </a:r>
          </a:p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>
                <a:solidFill>
                  <a:srgbClr val="FF0000"/>
                </a:solidFill>
              </a:rPr>
              <a:t>| </a:t>
            </a:r>
            <a:r>
              <a:rPr lang="pt-BR" sz="1200" dirty="0" err="1">
                <a:solidFill>
                  <a:srgbClr val="FF0000"/>
                </a:solidFill>
              </a:rPr>
              <a:t>ComandoCalculo</a:t>
            </a: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ComandoLoad</a:t>
            </a:r>
            <a:r>
              <a:rPr lang="pt-BR" sz="1200" dirty="0">
                <a:solidFill>
                  <a:srgbClr val="FF0000"/>
                </a:solidFill>
              </a:rPr>
              <a:t> ::= "LOAD" </a:t>
            </a:r>
            <a:r>
              <a:rPr lang="pt-BR" sz="1200" dirty="0" err="1">
                <a:solidFill>
                  <a:srgbClr val="FF0000"/>
                </a:solidFill>
              </a:rPr>
              <a:t>Expressao</a:t>
            </a:r>
            <a:r>
              <a:rPr lang="pt-BR" sz="1200" dirty="0">
                <a:solidFill>
                  <a:srgbClr val="FF0000"/>
                </a:solidFill>
              </a:rPr>
              <a:t> "AS" Id</a:t>
            </a:r>
          </a:p>
          <a:p>
            <a:pPr marL="0" indent="0">
              <a:lnSpc>
                <a:spcPct val="115000"/>
              </a:lnSpc>
              <a:buFont typeface="Roboto"/>
              <a:buNone/>
            </a:pPr>
            <a:br>
              <a:rPr lang="pt-BR" sz="1200" dirty="0">
                <a:solidFill>
                  <a:srgbClr val="FF0000"/>
                </a:solidFill>
              </a:rPr>
            </a:br>
            <a:r>
              <a:rPr lang="pt-BR" sz="1200" dirty="0" err="1">
                <a:solidFill>
                  <a:srgbClr val="FF0000"/>
                </a:solidFill>
              </a:rPr>
              <a:t>ComandoFiltro</a:t>
            </a:r>
            <a:r>
              <a:rPr lang="pt-BR" sz="1200" dirty="0">
                <a:solidFill>
                  <a:srgbClr val="FF0000"/>
                </a:solidFill>
              </a:rPr>
              <a:t> ::= "FILTER" Id "WHERE" </a:t>
            </a:r>
            <a:r>
              <a:rPr lang="pt-BR" sz="1200" dirty="0" err="1">
                <a:solidFill>
                  <a:srgbClr val="FF0000"/>
                </a:solidFill>
              </a:rPr>
              <a:t>Expressao</a:t>
            </a:r>
            <a:r>
              <a:rPr lang="pt-BR" sz="1200" dirty="0">
                <a:solidFill>
                  <a:srgbClr val="FF0000"/>
                </a:solidFill>
              </a:rPr>
              <a:t> "AS" Id</a:t>
            </a:r>
          </a:p>
          <a:p>
            <a:pPr marL="0" indent="0">
              <a:lnSpc>
                <a:spcPct val="115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ComandoCalculo</a:t>
            </a:r>
            <a:r>
              <a:rPr lang="pt-BR" sz="1200" dirty="0">
                <a:solidFill>
                  <a:srgbClr val="FF0000"/>
                </a:solidFill>
              </a:rPr>
              <a:t> ::= </a:t>
            </a:r>
            <a:r>
              <a:rPr lang="pt-BR" sz="1200" dirty="0" err="1">
                <a:solidFill>
                  <a:srgbClr val="FF0000"/>
                </a:solidFill>
              </a:rPr>
              <a:t>AnaliseColuna</a:t>
            </a:r>
            <a:r>
              <a:rPr lang="pt-BR" sz="1200" dirty="0">
                <a:solidFill>
                  <a:srgbClr val="FF0000"/>
                </a:solidFill>
              </a:rPr>
              <a:t> | </a:t>
            </a:r>
            <a:r>
              <a:rPr lang="pt-BR" sz="1200" dirty="0" err="1">
                <a:solidFill>
                  <a:srgbClr val="FF0000"/>
                </a:solidFill>
              </a:rPr>
              <a:t>ContagemTabela</a:t>
            </a: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AnaliseColuna</a:t>
            </a:r>
            <a:r>
              <a:rPr lang="pt-BR" sz="1200" dirty="0">
                <a:solidFill>
                  <a:srgbClr val="FF0000"/>
                </a:solidFill>
              </a:rPr>
              <a:t> ::= </a:t>
            </a:r>
            <a:r>
              <a:rPr lang="pt-BR" sz="1200" dirty="0" err="1">
                <a:solidFill>
                  <a:srgbClr val="FF0000"/>
                </a:solidFill>
              </a:rPr>
              <a:t>FuncaoColuna</a:t>
            </a:r>
            <a:r>
              <a:rPr lang="pt-BR" sz="1200" dirty="0">
                <a:solidFill>
                  <a:srgbClr val="FF0000"/>
                </a:solidFill>
              </a:rPr>
              <a:t> </a:t>
            </a:r>
            <a:r>
              <a:rPr lang="pt-BR" sz="1200" dirty="0" err="1">
                <a:solidFill>
                  <a:srgbClr val="FF0000"/>
                </a:solidFill>
              </a:rPr>
              <a:t>ReferenciaColuna</a:t>
            </a:r>
            <a:r>
              <a:rPr lang="pt-BR" sz="1200" dirty="0">
                <a:solidFill>
                  <a:srgbClr val="FF0000"/>
                </a:solidFill>
              </a:rPr>
              <a:t> "AS" Id</a:t>
            </a:r>
          </a:p>
          <a:p>
            <a:pPr marL="0" indent="0">
              <a:lnSpc>
                <a:spcPct val="115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ContagemTabela</a:t>
            </a:r>
            <a:r>
              <a:rPr lang="pt-BR" sz="1200" dirty="0">
                <a:solidFill>
                  <a:srgbClr val="FF0000"/>
                </a:solidFill>
              </a:rPr>
              <a:t> ::= "COUNT" Id "AS" Id</a:t>
            </a:r>
          </a:p>
          <a:p>
            <a:pPr marL="0" indent="0">
              <a:lnSpc>
                <a:spcPct val="115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ReferenciaColuna</a:t>
            </a:r>
            <a:r>
              <a:rPr lang="pt-BR" sz="1200" dirty="0">
                <a:solidFill>
                  <a:srgbClr val="FF0000"/>
                </a:solidFill>
              </a:rPr>
              <a:t> ::= Id "." Id</a:t>
            </a:r>
          </a:p>
          <a:p>
            <a:pPr marL="0" indent="0">
              <a:lnSpc>
                <a:spcPct val="115000"/>
              </a:lnSpc>
              <a:buFont typeface="Roboto"/>
              <a:buNone/>
            </a:pPr>
            <a:endParaRPr lang="pt-BR" sz="1200" dirty="0">
              <a:solidFill>
                <a:srgbClr val="FF0000"/>
              </a:solidFill>
            </a:endParaRPr>
          </a:p>
          <a:p>
            <a:pPr marL="0" indent="0">
              <a:lnSpc>
                <a:spcPct val="115000"/>
              </a:lnSpc>
              <a:buFont typeface="Roboto"/>
              <a:buNone/>
            </a:pPr>
            <a:r>
              <a:rPr lang="pt-BR" sz="1200" dirty="0" err="1">
                <a:solidFill>
                  <a:srgbClr val="FF0000"/>
                </a:solidFill>
              </a:rPr>
              <a:t>FuncaoColuna</a:t>
            </a:r>
            <a:r>
              <a:rPr lang="pt-BR" sz="1200" dirty="0">
                <a:solidFill>
                  <a:srgbClr val="FF0000"/>
                </a:solidFill>
              </a:rPr>
              <a:t> ::= "MEAN" | "MEDIAN" | "MODE" | "STD" | "MIN" | "MAX" | "RANGE" | "QUARTILES“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1E2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/>
        </p:nvSpPr>
        <p:spPr>
          <a:xfrm>
            <a:off x="98900" y="3978375"/>
            <a:ext cx="297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i="1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Programa de Pós-Graduação Acadêmico em Ciência da Computação</a:t>
            </a:r>
            <a:endParaRPr sz="1200" i="1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311700" y="0"/>
            <a:ext cx="85206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 b="1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Obrigado!</a:t>
            </a:r>
            <a:endParaRPr sz="30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5603</TotalTime>
  <Words>449</Words>
  <Application>Microsoft Office PowerPoint</Application>
  <PresentationFormat>Apresentação na tela (16:9)</PresentationFormat>
  <Paragraphs>82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Roboto Light</vt:lpstr>
      <vt:lpstr>Roboto</vt:lpstr>
      <vt:lpstr>Roboto Medium</vt:lpstr>
      <vt:lpstr>Arial</vt:lpstr>
      <vt:lpstr>Calibri</vt:lpstr>
      <vt:lpstr>Simple Light</vt:lpstr>
      <vt:lpstr>Apresentação do PowerPoint</vt:lpstr>
      <vt:lpstr>Visão Geral</vt:lpstr>
      <vt:lpstr>Visão Geral</vt:lpstr>
      <vt:lpstr>Mudanças na BNF da LI2 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Andrezza Bonfim</dc:creator>
  <cp:lastModifiedBy>Andrezza Bonfim</cp:lastModifiedBy>
  <cp:revision>4</cp:revision>
  <dcterms:modified xsi:type="dcterms:W3CDTF">2025-10-28T11:03:02Z</dcterms:modified>
</cp:coreProperties>
</file>